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87" r:id="rId2"/>
    <p:sldId id="257" r:id="rId3"/>
    <p:sldId id="258" r:id="rId4"/>
    <p:sldId id="288" r:id="rId5"/>
    <p:sldId id="259" r:id="rId6"/>
    <p:sldId id="260" r:id="rId7"/>
    <p:sldId id="261" r:id="rId8"/>
    <p:sldId id="262" r:id="rId9"/>
    <p:sldId id="263" r:id="rId10"/>
    <p:sldId id="264" r:id="rId11"/>
    <p:sldId id="265" r:id="rId12"/>
    <p:sldId id="289" r:id="rId13"/>
    <p:sldId id="268" r:id="rId14"/>
    <p:sldId id="291" r:id="rId15"/>
    <p:sldId id="266" r:id="rId16"/>
    <p:sldId id="267" r:id="rId17"/>
    <p:sldId id="269" r:id="rId18"/>
    <p:sldId id="270" r:id="rId19"/>
    <p:sldId id="271" r:id="rId20"/>
    <p:sldId id="272" r:id="rId21"/>
    <p:sldId id="273" r:id="rId22"/>
    <p:sldId id="274" r:id="rId23"/>
    <p:sldId id="275" r:id="rId24"/>
    <p:sldId id="293" r:id="rId25"/>
    <p:sldId id="292" r:id="rId26"/>
    <p:sldId id="294" r:id="rId27"/>
    <p:sldId id="295" r:id="rId28"/>
    <p:sldId id="277" r:id="rId29"/>
    <p:sldId id="278" r:id="rId30"/>
    <p:sldId id="285" r:id="rId31"/>
    <p:sldId id="286" r:id="rId32"/>
    <p:sldId id="279" r:id="rId33"/>
    <p:sldId id="280" r:id="rId34"/>
    <p:sldId id="281"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cUfyt9960oIjqTA1F+Ye8U76IT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83D1A6-765B-4AAD-898E-D1D04EDBE16B}">
  <a:tblStyle styleId="{FB83D1A6-765B-4AAD-898E-D1D04EDBE16B}"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c34e81e66_0_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g33c34e81e66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3c34e81e6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g33c34e81e6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3c34e81e66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g33c34e81e66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c34e81e66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g33c34e81e66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3c34e81e66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33c34e81e6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3c34e81e66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g33c34e81e6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
        <p:nvSpPr>
          <p:cNvPr id="41" name="Google Shape;4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4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4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4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4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2"/>
          <p:cNvSpPr>
            <a:spLocks noGrp="1"/>
          </p:cNvSpPr>
          <p:nvPr>
            <p:ph type="pic" idx="2"/>
          </p:nvPr>
        </p:nvSpPr>
        <p:spPr>
          <a:xfrm>
            <a:off x="5183188" y="987425"/>
            <a:ext cx="6172200" cy="4873625"/>
          </a:xfrm>
          <a:prstGeom prst="rect">
            <a:avLst/>
          </a:prstGeom>
          <a:noFill/>
          <a:ln>
            <a:noFill/>
          </a:ln>
        </p:spPr>
      </p:sp>
      <p:sp>
        <p:nvSpPr>
          <p:cNvPr id="68" name="Google Shape;68;p5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AD9848-B56C-A18C-60E2-B67D88FB24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a:t>
            </a:fld>
            <a:endParaRPr lang="en-IN"/>
          </a:p>
        </p:txBody>
      </p:sp>
      <p:pic>
        <p:nvPicPr>
          <p:cNvPr id="3" name="Google Shape;88;p1">
            <a:extLst>
              <a:ext uri="{FF2B5EF4-FFF2-40B4-BE49-F238E27FC236}">
                <a16:creationId xmlns:a16="http://schemas.microsoft.com/office/drawing/2014/main" id="{770318A6-7566-D244-18CB-5F2E6AD00BE3}"/>
              </a:ext>
            </a:extLst>
          </p:cNvPr>
          <p:cNvPicPr preferRelativeResize="0"/>
          <p:nvPr/>
        </p:nvPicPr>
        <p:blipFill rotWithShape="1">
          <a:blip r:embed="rId2">
            <a:alphaModFix/>
          </a:blip>
          <a:srcRect/>
          <a:stretch/>
        </p:blipFill>
        <p:spPr>
          <a:xfrm>
            <a:off x="252482" y="113395"/>
            <a:ext cx="1452640" cy="1455124"/>
          </a:xfrm>
          <a:prstGeom prst="rect">
            <a:avLst/>
          </a:prstGeom>
          <a:noFill/>
          <a:ln>
            <a:noFill/>
          </a:ln>
        </p:spPr>
      </p:pic>
      <p:pic>
        <p:nvPicPr>
          <p:cNvPr id="4" name="Google Shape;89;p1" descr="Anna University - Wikipedia">
            <a:extLst>
              <a:ext uri="{FF2B5EF4-FFF2-40B4-BE49-F238E27FC236}">
                <a16:creationId xmlns:a16="http://schemas.microsoft.com/office/drawing/2014/main" id="{0B05E1C6-005C-93FE-2CAA-DA90CE64E719}"/>
              </a:ext>
            </a:extLst>
          </p:cNvPr>
          <p:cNvPicPr preferRelativeResize="0"/>
          <p:nvPr/>
        </p:nvPicPr>
        <p:blipFill rotWithShape="1">
          <a:blip r:embed="rId3">
            <a:alphaModFix/>
          </a:blip>
          <a:srcRect/>
          <a:stretch/>
        </p:blipFill>
        <p:spPr>
          <a:xfrm>
            <a:off x="9715658" y="203609"/>
            <a:ext cx="1306884" cy="1387443"/>
          </a:xfrm>
          <a:prstGeom prst="rect">
            <a:avLst/>
          </a:prstGeom>
          <a:noFill/>
          <a:ln>
            <a:noFill/>
          </a:ln>
        </p:spPr>
      </p:pic>
      <p:sp>
        <p:nvSpPr>
          <p:cNvPr id="5" name="Google Shape;90;p1">
            <a:extLst>
              <a:ext uri="{FF2B5EF4-FFF2-40B4-BE49-F238E27FC236}">
                <a16:creationId xmlns:a16="http://schemas.microsoft.com/office/drawing/2014/main" id="{B376E0BA-196E-49A0-DF88-2692F378AB0B}"/>
              </a:ext>
            </a:extLst>
          </p:cNvPr>
          <p:cNvSpPr txBox="1"/>
          <p:nvPr/>
        </p:nvSpPr>
        <p:spPr>
          <a:xfrm>
            <a:off x="2367280" y="1764686"/>
            <a:ext cx="7127047" cy="43084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sz="2200" b="1" i="0" u="none" strike="noStrike" cap="none" dirty="0">
                <a:solidFill>
                  <a:srgbClr val="7030A0"/>
                </a:solidFill>
                <a:latin typeface="Times New Roman"/>
                <a:ea typeface="Times New Roman"/>
                <a:cs typeface="Times New Roman"/>
                <a:sym typeface="Times New Roman"/>
              </a:rPr>
              <a:t>Department of Computer Science and Engineering </a:t>
            </a:r>
            <a:endParaRPr sz="2200" b="1" dirty="0">
              <a:solidFill>
                <a:srgbClr val="7030A0"/>
              </a:solidFill>
              <a:latin typeface="Calibri"/>
              <a:ea typeface="Calibri"/>
              <a:cs typeface="Calibri"/>
              <a:sym typeface="Calibri"/>
            </a:endParaRPr>
          </a:p>
        </p:txBody>
      </p:sp>
      <p:sp>
        <p:nvSpPr>
          <p:cNvPr id="7" name="Google Shape;92;p1">
            <a:extLst>
              <a:ext uri="{FF2B5EF4-FFF2-40B4-BE49-F238E27FC236}">
                <a16:creationId xmlns:a16="http://schemas.microsoft.com/office/drawing/2014/main" id="{4A012493-66D1-929A-415D-BA5886D3BC1F}"/>
              </a:ext>
            </a:extLst>
          </p:cNvPr>
          <p:cNvSpPr txBox="1"/>
          <p:nvPr/>
        </p:nvSpPr>
        <p:spPr>
          <a:xfrm>
            <a:off x="1078322" y="5106850"/>
            <a:ext cx="4678021" cy="147728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rgbClr val="000000"/>
                </a:solidFill>
                <a:effectLst/>
                <a:latin typeface="Times New Roman" panose="02020603050405020304" pitchFamily="18" charset="0"/>
                <a:ea typeface="Times New Roman" panose="02020603050405020304" pitchFamily="18" charset="0"/>
              </a:rPr>
              <a:t>Dr. M. KRISHNAMOORTHY</a:t>
            </a:r>
            <a:r>
              <a:rPr lang="en-IN" sz="1800" dirty="0">
                <a:solidFill>
                  <a:srgbClr val="000000"/>
                </a:solidFill>
                <a:effectLst/>
                <a:latin typeface="Times New Roman" panose="02020603050405020304" pitchFamily="18" charset="0"/>
                <a:ea typeface="Times New Roman" panose="02020603050405020304" pitchFamily="18" charset="0"/>
              </a:rPr>
              <a:t> </a:t>
            </a:r>
            <a:r>
              <a:rPr lang="en-IN" sz="1800" b="1" dirty="0">
                <a:solidFill>
                  <a:srgbClr val="000000"/>
                </a:solidFill>
                <a:effectLst/>
                <a:latin typeface="Times New Roman" panose="02020603050405020304" pitchFamily="18" charset="0"/>
                <a:ea typeface="Times New Roman" panose="02020603050405020304" pitchFamily="18" charset="0"/>
              </a:rPr>
              <a:t>M.E., Ph.D.,  </a:t>
            </a:r>
            <a:r>
              <a:rPr lang="en-IN" sz="1800" dirty="0">
                <a:solidFill>
                  <a:srgbClr val="000000"/>
                </a:solidFill>
                <a:effectLst/>
                <a:latin typeface="Times New Roman" panose="02020603050405020304" pitchFamily="18" charset="0"/>
                <a:ea typeface="Times New Roman" panose="02020603050405020304" pitchFamily="18" charset="0"/>
              </a:rPr>
              <a:t>                                          </a:t>
            </a:r>
            <a:r>
              <a:rPr lang="en-IN" sz="1800" b="1" dirty="0">
                <a:latin typeface="Times New Roman" panose="02020603050405020304" pitchFamily="18" charset="0"/>
                <a:ea typeface="Times New Roman" panose="02020603050405020304" pitchFamily="18" charset="0"/>
              </a:rPr>
              <a:t>Professor</a:t>
            </a:r>
            <a:endParaRPr lang="en-IN" sz="1800" b="1" dirty="0">
              <a:solidFill>
                <a:srgbClr val="000000"/>
              </a:solidFill>
              <a:effectLst/>
              <a:latin typeface="Times New Roman" panose="02020603050405020304" pitchFamily="18" charset="0"/>
              <a:ea typeface="Times New Roman" panose="02020603050405020304" pitchFamily="18" charset="0"/>
            </a:endParaRPr>
          </a:p>
          <a:p>
            <a:r>
              <a:rPr lang="en-US" sz="1800" b="1" dirty="0">
                <a:solidFill>
                  <a:schemeClr val="dk1"/>
                </a:solidFill>
                <a:latin typeface="Times New Roman"/>
                <a:ea typeface="Times New Roman"/>
                <a:cs typeface="Times New Roman"/>
                <a:sym typeface="Times New Roman"/>
              </a:rPr>
              <a:t>Department of CSE</a:t>
            </a:r>
          </a:p>
          <a:p>
            <a:pPr marL="0" marR="0" lvl="0" indent="0" rtl="0">
              <a:spcBef>
                <a:spcPts val="0"/>
              </a:spcBef>
              <a:spcAft>
                <a:spcPts val="0"/>
              </a:spcAft>
              <a:buNone/>
            </a:pPr>
            <a:r>
              <a:rPr lang="en-US" sz="1800" b="1" dirty="0">
                <a:solidFill>
                  <a:schemeClr val="dk1"/>
                </a:solidFill>
                <a:latin typeface="Times New Roman"/>
                <a:ea typeface="Times New Roman"/>
                <a:cs typeface="Times New Roman"/>
                <a:sym typeface="Times New Roman"/>
              </a:rPr>
              <a:t>Panimalar Engineering College</a:t>
            </a:r>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	</a:t>
            </a:r>
            <a:endParaRPr sz="1800" b="1" dirty="0">
              <a:solidFill>
                <a:schemeClr val="dk1"/>
              </a:solidFill>
              <a:latin typeface="Times New Roman"/>
              <a:ea typeface="Times New Roman"/>
              <a:cs typeface="Times New Roman"/>
              <a:sym typeface="Times New Roman"/>
            </a:endParaRPr>
          </a:p>
        </p:txBody>
      </p:sp>
      <p:pic>
        <p:nvPicPr>
          <p:cNvPr id="8" name="Google Shape;95;p1">
            <a:extLst>
              <a:ext uri="{FF2B5EF4-FFF2-40B4-BE49-F238E27FC236}">
                <a16:creationId xmlns:a16="http://schemas.microsoft.com/office/drawing/2014/main" id="{4472C513-294B-95A3-1688-810DB81B0CDE}"/>
              </a:ext>
            </a:extLst>
          </p:cNvPr>
          <p:cNvPicPr preferRelativeResize="0"/>
          <p:nvPr/>
        </p:nvPicPr>
        <p:blipFill rotWithShape="1">
          <a:blip r:embed="rId4">
            <a:alphaModFix/>
          </a:blip>
          <a:srcRect/>
          <a:stretch/>
        </p:blipFill>
        <p:spPr>
          <a:xfrm>
            <a:off x="1595120" y="113395"/>
            <a:ext cx="8008895" cy="1632240"/>
          </a:xfrm>
          <a:prstGeom prst="rect">
            <a:avLst/>
          </a:prstGeom>
          <a:noFill/>
          <a:ln>
            <a:noFill/>
          </a:ln>
        </p:spPr>
      </p:pic>
      <p:sp>
        <p:nvSpPr>
          <p:cNvPr id="9" name="Google Shape;96;p1">
            <a:extLst>
              <a:ext uri="{FF2B5EF4-FFF2-40B4-BE49-F238E27FC236}">
                <a16:creationId xmlns:a16="http://schemas.microsoft.com/office/drawing/2014/main" id="{4892B381-67C9-5DF2-2EAB-6912F169A163}"/>
              </a:ext>
            </a:extLst>
          </p:cNvPr>
          <p:cNvSpPr txBox="1">
            <a:spLocks noGrp="1"/>
          </p:cNvSpPr>
          <p:nvPr/>
        </p:nvSpPr>
        <p:spPr>
          <a:xfrm>
            <a:off x="794200" y="6370540"/>
            <a:ext cx="20574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r>
              <a:rPr lang="en-US" dirty="0"/>
              <a:t>19-10-2023</a:t>
            </a:r>
            <a:endParaRPr dirty="0"/>
          </a:p>
        </p:txBody>
      </p:sp>
      <p:sp>
        <p:nvSpPr>
          <p:cNvPr id="10" name="Google Shape;97;p1">
            <a:extLst>
              <a:ext uri="{FF2B5EF4-FFF2-40B4-BE49-F238E27FC236}">
                <a16:creationId xmlns:a16="http://schemas.microsoft.com/office/drawing/2014/main" id="{9591A206-F994-C520-D993-8C5E370CE960}"/>
              </a:ext>
            </a:extLst>
          </p:cNvPr>
          <p:cNvSpPr txBox="1">
            <a:spLocks noGrp="1"/>
          </p:cNvSpPr>
          <p:nvPr/>
        </p:nvSpPr>
        <p:spPr>
          <a:xfrm>
            <a:off x="8054827" y="6360429"/>
            <a:ext cx="2314273"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z="1800">
                <a:solidFill>
                  <a:schemeClr val="dk1"/>
                </a:solidFill>
              </a:rPr>
              <a:pPr marL="0" lvl="0" indent="0" algn="r" rtl="0">
                <a:spcBef>
                  <a:spcPts val="0"/>
                </a:spcBef>
                <a:spcAft>
                  <a:spcPts val="0"/>
                </a:spcAft>
                <a:buNone/>
              </a:pPr>
              <a:t>1</a:t>
            </a:fld>
            <a:endParaRPr sz="1800" dirty="0">
              <a:solidFill>
                <a:schemeClr val="dk1"/>
              </a:solidFill>
            </a:endParaRPr>
          </a:p>
        </p:txBody>
      </p:sp>
      <p:sp>
        <p:nvSpPr>
          <p:cNvPr id="11" name="TextBox 10">
            <a:extLst>
              <a:ext uri="{FF2B5EF4-FFF2-40B4-BE49-F238E27FC236}">
                <a16:creationId xmlns:a16="http://schemas.microsoft.com/office/drawing/2014/main" id="{62559D44-325B-EFD4-8249-4CD172FFE0E6}"/>
              </a:ext>
            </a:extLst>
          </p:cNvPr>
          <p:cNvSpPr txBox="1"/>
          <p:nvPr/>
        </p:nvSpPr>
        <p:spPr>
          <a:xfrm>
            <a:off x="7930606" y="5106850"/>
            <a:ext cx="4602480" cy="1144929"/>
          </a:xfrm>
          <a:prstGeom prst="rect">
            <a:avLst/>
          </a:prstGeom>
          <a:noFill/>
        </p:spPr>
        <p:txBody>
          <a:bodyPr wrap="square">
            <a:spAutoFit/>
          </a:bodyPr>
          <a:lstStyle/>
          <a:p>
            <a:pPr marL="0" lvl="0" indent="0" algn="l" rtl="0">
              <a:lnSpc>
                <a:spcPct val="90000"/>
              </a:lnSpc>
              <a:spcBef>
                <a:spcPts val="1000"/>
              </a:spcBef>
              <a:spcAft>
                <a:spcPts val="0"/>
              </a:spcAft>
              <a:buClr>
                <a:schemeClr val="lt1"/>
              </a:buClr>
              <a:buSzPct val="100000"/>
              <a:buNone/>
            </a:pPr>
            <a:r>
              <a:rPr lang="en-IN" sz="1800" b="1" dirty="0">
                <a:latin typeface="Times New Roman"/>
                <a:ea typeface="Times New Roman"/>
                <a:cs typeface="Times New Roman"/>
                <a:sym typeface="Times New Roman"/>
              </a:rPr>
              <a:t>Dr. R. JOSPHINELEELA, M.E, </a:t>
            </a:r>
            <a:r>
              <a:rPr lang="en-IN" sz="1800" b="1" dirty="0" err="1">
                <a:latin typeface="Times New Roman"/>
                <a:ea typeface="Times New Roman"/>
                <a:cs typeface="Times New Roman"/>
                <a:sym typeface="Times New Roman"/>
              </a:rPr>
              <a:t>Ph.D</a:t>
            </a:r>
            <a:br>
              <a:rPr lang="en-US" sz="1800" b="1" dirty="0">
                <a:solidFill>
                  <a:schemeClr val="dk1"/>
                </a:solidFill>
                <a:latin typeface="Times New Roman"/>
                <a:ea typeface="Times New Roman"/>
                <a:cs typeface="Times New Roman"/>
                <a:sym typeface="Times New Roman"/>
              </a:rPr>
            </a:br>
            <a:r>
              <a:rPr lang="en-US" sz="1800" b="1" dirty="0">
                <a:solidFill>
                  <a:schemeClr val="dk1"/>
                </a:solidFill>
                <a:latin typeface="Times New Roman"/>
                <a:ea typeface="Times New Roman"/>
                <a:cs typeface="Times New Roman"/>
                <a:sym typeface="Times New Roman"/>
              </a:rPr>
              <a:t>Associate Professor </a:t>
            </a:r>
          </a:p>
          <a:p>
            <a:pPr marL="0" marR="0" lvl="0" indent="0" rtl="0">
              <a:spcBef>
                <a:spcPts val="0"/>
              </a:spcBef>
              <a:spcAft>
                <a:spcPts val="0"/>
              </a:spcAft>
              <a:buNone/>
            </a:pPr>
            <a:r>
              <a:rPr lang="en-US" sz="1800" b="1" dirty="0">
                <a:solidFill>
                  <a:schemeClr val="dk1"/>
                </a:solidFill>
                <a:latin typeface="Times New Roman"/>
                <a:ea typeface="Times New Roman"/>
                <a:cs typeface="Times New Roman"/>
                <a:sym typeface="Times New Roman"/>
              </a:rPr>
              <a:t>Department of CSE</a:t>
            </a:r>
          </a:p>
          <a:p>
            <a:pPr marL="0" marR="0" lvl="0" indent="0" rtl="0">
              <a:spcBef>
                <a:spcPts val="0"/>
              </a:spcBef>
              <a:spcAft>
                <a:spcPts val="0"/>
              </a:spcAft>
              <a:buNone/>
            </a:pPr>
            <a:r>
              <a:rPr lang="en-US" sz="1800" b="1" dirty="0" err="1">
                <a:solidFill>
                  <a:schemeClr val="dk1"/>
                </a:solidFill>
                <a:latin typeface="Times New Roman"/>
                <a:ea typeface="Times New Roman"/>
                <a:cs typeface="Times New Roman"/>
                <a:sym typeface="Times New Roman"/>
              </a:rPr>
              <a:t>Panimalar</a:t>
            </a:r>
            <a:r>
              <a:rPr lang="en-US" sz="1800" b="1" dirty="0">
                <a:solidFill>
                  <a:schemeClr val="dk1"/>
                </a:solidFill>
                <a:latin typeface="Times New Roman"/>
                <a:ea typeface="Times New Roman"/>
                <a:cs typeface="Times New Roman"/>
                <a:sym typeface="Times New Roman"/>
              </a:rPr>
              <a:t> Engineering College</a:t>
            </a:r>
          </a:p>
        </p:txBody>
      </p:sp>
      <p:sp>
        <p:nvSpPr>
          <p:cNvPr id="12" name="TextBox 11">
            <a:extLst>
              <a:ext uri="{FF2B5EF4-FFF2-40B4-BE49-F238E27FC236}">
                <a16:creationId xmlns:a16="http://schemas.microsoft.com/office/drawing/2014/main" id="{99730853-99F5-27B1-EC23-279620D59FAC}"/>
              </a:ext>
            </a:extLst>
          </p:cNvPr>
          <p:cNvSpPr txBox="1"/>
          <p:nvPr/>
        </p:nvSpPr>
        <p:spPr>
          <a:xfrm>
            <a:off x="2154113" y="2754480"/>
            <a:ext cx="6744833" cy="1415772"/>
          </a:xfrm>
          <a:prstGeom prst="rect">
            <a:avLst/>
          </a:prstGeom>
          <a:noFill/>
        </p:spPr>
        <p:txBody>
          <a:bodyPr wrap="square">
            <a:spAutoFit/>
          </a:bodyPr>
          <a:lstStyle/>
          <a:p>
            <a:endParaRPr lang="en-US" sz="1800" b="1" dirty="0">
              <a:solidFill>
                <a:schemeClr val="tx1"/>
              </a:solidFill>
              <a:effectLst/>
              <a:latin typeface="Times New Roman" panose="02020603050405020304" pitchFamily="18" charset="0"/>
              <a:ea typeface="Times New Roman" panose="02020603050405020304" pitchFamily="18" charset="0"/>
            </a:endParaRPr>
          </a:p>
          <a:p>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LATHIKESHWARAN.S [REGISTER NO:211421104138]</a:t>
            </a:r>
          </a:p>
          <a:p>
            <a:r>
              <a:rPr lang="en-IN" sz="1800" b="1" dirty="0">
                <a:latin typeface="Times New Roman" panose="02020603050405020304" pitchFamily="18" charset="0"/>
                <a:cs typeface="Times New Roman" panose="02020603050405020304" pitchFamily="18" charset="0"/>
              </a:rPr>
              <a:t>       LOGESH.S                        [</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REGISTER NO</a:t>
            </a:r>
            <a:r>
              <a:rPr lang="en-IN" sz="1800" b="1" dirty="0">
                <a:latin typeface="Times New Roman" panose="02020603050405020304" pitchFamily="18" charset="0"/>
                <a:cs typeface="Times New Roman" panose="02020603050405020304" pitchFamily="18" charset="0"/>
              </a:rPr>
              <a:t>:211421104145]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NAVEEN .S                       [</a:t>
            </a: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REGISTER NO:</a:t>
            </a:r>
            <a:r>
              <a:rPr lang="en-IN" sz="1800" b="1" dirty="0">
                <a:latin typeface="Times New Roman" panose="02020603050405020304" pitchFamily="18" charset="0"/>
                <a:cs typeface="Times New Roman" panose="02020603050405020304" pitchFamily="18" charset="0"/>
              </a:rPr>
              <a:t>211420104172]</a:t>
            </a:r>
            <a:endPar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14" name="TextBox 13">
            <a:extLst>
              <a:ext uri="{FF2B5EF4-FFF2-40B4-BE49-F238E27FC236}">
                <a16:creationId xmlns:a16="http://schemas.microsoft.com/office/drawing/2014/main" id="{6318DCEB-2DA0-D936-33E7-CD4C743A6ED4}"/>
              </a:ext>
            </a:extLst>
          </p:cNvPr>
          <p:cNvSpPr txBox="1"/>
          <p:nvPr/>
        </p:nvSpPr>
        <p:spPr>
          <a:xfrm>
            <a:off x="2750677" y="2244174"/>
            <a:ext cx="6265332" cy="461665"/>
          </a:xfrm>
          <a:prstGeom prst="rect">
            <a:avLst/>
          </a:prstGeom>
          <a:noFill/>
        </p:spPr>
        <p:txBody>
          <a:bodyPr wrap="square">
            <a:spAutoFit/>
          </a:bodyPr>
          <a:lstStyle/>
          <a:p>
            <a:r>
              <a:rPr lang="en-IN" sz="2400" b="1" dirty="0">
                <a:latin typeface="Times New Roman"/>
                <a:ea typeface="Times New Roman"/>
                <a:cs typeface="Times New Roman"/>
                <a:sym typeface="Times New Roman"/>
              </a:rPr>
              <a:t>Real-time crowd and violence detection</a:t>
            </a:r>
            <a:endParaRPr lang="en-IN" sz="2400" dirty="0"/>
          </a:p>
        </p:txBody>
      </p:sp>
    </p:spTree>
    <p:extLst>
      <p:ext uri="{BB962C8B-B14F-4D97-AF65-F5344CB8AC3E}">
        <p14:creationId xmlns:p14="http://schemas.microsoft.com/office/powerpoint/2010/main" val="264288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290">
                                          <p:stCondLst>
                                            <p:cond delay="0"/>
                                          </p:stCondLst>
                                        </p:cTn>
                                        <p:tgtEl>
                                          <p:spTgt spid="3"/>
                                        </p:tgtEl>
                                      </p:cBhvr>
                                    </p:animEffect>
                                    <p:anim calcmode="lin" valueType="num">
                                      <p:cBhvr>
                                        <p:cTn id="8" dur="911"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3"/>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3"/>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3"/>
                                        </p:tgtEl>
                                        <p:attrNameLst>
                                          <p:attrName>ppt_y</p:attrName>
                                        </p:attrNameLst>
                                      </p:cBhvr>
                                      <p:tavLst>
                                        <p:tav tm="0" fmla="#ppt_y-sin(pi*$)/81">
                                          <p:val>
                                            <p:fltVal val="0"/>
                                          </p:val>
                                        </p:tav>
                                        <p:tav tm="100000">
                                          <p:val>
                                            <p:fltVal val="1"/>
                                          </p:val>
                                        </p:tav>
                                      </p:tavLst>
                                    </p:anim>
                                    <p:animScale>
                                      <p:cBhvr>
                                        <p:cTn id="13" dur="13">
                                          <p:stCondLst>
                                            <p:cond delay="325"/>
                                          </p:stCondLst>
                                        </p:cTn>
                                        <p:tgtEl>
                                          <p:spTgt spid="3"/>
                                        </p:tgtEl>
                                      </p:cBhvr>
                                      <p:to x="100000" y="60000"/>
                                    </p:animScale>
                                    <p:animScale>
                                      <p:cBhvr>
                                        <p:cTn id="14" dur="83" decel="50000">
                                          <p:stCondLst>
                                            <p:cond delay="338"/>
                                          </p:stCondLst>
                                        </p:cTn>
                                        <p:tgtEl>
                                          <p:spTgt spid="3"/>
                                        </p:tgtEl>
                                      </p:cBhvr>
                                      <p:to x="100000" y="100000"/>
                                    </p:animScale>
                                    <p:animScale>
                                      <p:cBhvr>
                                        <p:cTn id="15" dur="13">
                                          <p:stCondLst>
                                            <p:cond delay="656"/>
                                          </p:stCondLst>
                                        </p:cTn>
                                        <p:tgtEl>
                                          <p:spTgt spid="3"/>
                                        </p:tgtEl>
                                      </p:cBhvr>
                                      <p:to x="100000" y="80000"/>
                                    </p:animScale>
                                    <p:animScale>
                                      <p:cBhvr>
                                        <p:cTn id="16" dur="83" decel="50000">
                                          <p:stCondLst>
                                            <p:cond delay="669"/>
                                          </p:stCondLst>
                                        </p:cTn>
                                        <p:tgtEl>
                                          <p:spTgt spid="3"/>
                                        </p:tgtEl>
                                      </p:cBhvr>
                                      <p:to x="100000" y="100000"/>
                                    </p:animScale>
                                    <p:animScale>
                                      <p:cBhvr>
                                        <p:cTn id="17" dur="13">
                                          <p:stCondLst>
                                            <p:cond delay="821"/>
                                          </p:stCondLst>
                                        </p:cTn>
                                        <p:tgtEl>
                                          <p:spTgt spid="3"/>
                                        </p:tgtEl>
                                      </p:cBhvr>
                                      <p:to x="100000" y="90000"/>
                                    </p:animScale>
                                    <p:animScale>
                                      <p:cBhvr>
                                        <p:cTn id="18" dur="83" decel="50000">
                                          <p:stCondLst>
                                            <p:cond delay="834"/>
                                          </p:stCondLst>
                                        </p:cTn>
                                        <p:tgtEl>
                                          <p:spTgt spid="3"/>
                                        </p:tgtEl>
                                      </p:cBhvr>
                                      <p:to x="100000" y="100000"/>
                                    </p:animScale>
                                    <p:animScale>
                                      <p:cBhvr>
                                        <p:cTn id="19" dur="13">
                                          <p:stCondLst>
                                            <p:cond delay="904"/>
                                          </p:stCondLst>
                                        </p:cTn>
                                        <p:tgtEl>
                                          <p:spTgt spid="3"/>
                                        </p:tgtEl>
                                      </p:cBhvr>
                                      <p:to x="100000" y="95000"/>
                                    </p:animScale>
                                    <p:animScale>
                                      <p:cBhvr>
                                        <p:cTn id="20" dur="83" decel="50000">
                                          <p:stCondLst>
                                            <p:cond delay="917"/>
                                          </p:stCondLst>
                                        </p:cTn>
                                        <p:tgtEl>
                                          <p:spTgt spid="3"/>
                                        </p:tgtEl>
                                      </p:cBhvr>
                                      <p:to x="100000" y="100000"/>
                                    </p:animScale>
                                  </p:childTnLst>
                                </p:cTn>
                              </p:par>
                            </p:childTnLst>
                          </p:cTn>
                        </p:par>
                        <p:par>
                          <p:cTn id="21" fill="hold">
                            <p:stCondLst>
                              <p:cond delay="1000"/>
                            </p:stCondLst>
                            <p:childTnLst>
                              <p:par>
                                <p:cTn id="22" presetID="26"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290">
                                          <p:stCondLst>
                                            <p:cond delay="0"/>
                                          </p:stCondLst>
                                        </p:cTn>
                                        <p:tgtEl>
                                          <p:spTgt spid="4"/>
                                        </p:tgtEl>
                                      </p:cBhvr>
                                    </p:animEffect>
                                    <p:anim calcmode="lin" valueType="num">
                                      <p:cBhvr>
                                        <p:cTn id="25" dur="911"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6" dur="332"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7" dur="332" tmFilter="0, 0; 0.125,0.2665; 0.25,0.4; 0.375,0.465; 0.5,0.5;  0.625,0.535; 0.75,0.6; 0.875,0.7335; 1,1">
                                          <p:stCondLst>
                                            <p:cond delay="332"/>
                                          </p:stCondLst>
                                        </p:cTn>
                                        <p:tgtEl>
                                          <p:spTgt spid="4"/>
                                        </p:tgtEl>
                                        <p:attrNameLst>
                                          <p:attrName>ppt_y</p:attrName>
                                        </p:attrNameLst>
                                      </p:cBhvr>
                                      <p:tavLst>
                                        <p:tav tm="0" fmla="#ppt_y-sin(pi*$)/9">
                                          <p:val>
                                            <p:fltVal val="0"/>
                                          </p:val>
                                        </p:tav>
                                        <p:tav tm="100000">
                                          <p:val>
                                            <p:fltVal val="1"/>
                                          </p:val>
                                        </p:tav>
                                      </p:tavLst>
                                    </p:anim>
                                    <p:anim calcmode="lin" valueType="num">
                                      <p:cBhvr>
                                        <p:cTn id="28" dur="166" tmFilter="0, 0; 0.125,0.2665; 0.25,0.4; 0.375,0.465; 0.5,0.5;  0.625,0.535; 0.75,0.6; 0.875,0.7335; 1,1">
                                          <p:stCondLst>
                                            <p:cond delay="662"/>
                                          </p:stCondLst>
                                        </p:cTn>
                                        <p:tgtEl>
                                          <p:spTgt spid="4"/>
                                        </p:tgtEl>
                                        <p:attrNameLst>
                                          <p:attrName>ppt_y</p:attrName>
                                        </p:attrNameLst>
                                      </p:cBhvr>
                                      <p:tavLst>
                                        <p:tav tm="0" fmla="#ppt_y-sin(pi*$)/27">
                                          <p:val>
                                            <p:fltVal val="0"/>
                                          </p:val>
                                        </p:tav>
                                        <p:tav tm="100000">
                                          <p:val>
                                            <p:fltVal val="1"/>
                                          </p:val>
                                        </p:tav>
                                      </p:tavLst>
                                    </p:anim>
                                    <p:anim calcmode="lin" valueType="num">
                                      <p:cBhvr>
                                        <p:cTn id="29" dur="82" tmFilter="0, 0; 0.125,0.2665; 0.25,0.4; 0.375,0.465; 0.5,0.5;  0.625,0.535; 0.75,0.6; 0.875,0.7335; 1,1">
                                          <p:stCondLst>
                                            <p:cond delay="828"/>
                                          </p:stCondLst>
                                        </p:cTn>
                                        <p:tgtEl>
                                          <p:spTgt spid="4"/>
                                        </p:tgtEl>
                                        <p:attrNameLst>
                                          <p:attrName>ppt_y</p:attrName>
                                        </p:attrNameLst>
                                      </p:cBhvr>
                                      <p:tavLst>
                                        <p:tav tm="0" fmla="#ppt_y-sin(pi*$)/81">
                                          <p:val>
                                            <p:fltVal val="0"/>
                                          </p:val>
                                        </p:tav>
                                        <p:tav tm="100000">
                                          <p:val>
                                            <p:fltVal val="1"/>
                                          </p:val>
                                        </p:tav>
                                      </p:tavLst>
                                    </p:anim>
                                    <p:animScale>
                                      <p:cBhvr>
                                        <p:cTn id="30" dur="13">
                                          <p:stCondLst>
                                            <p:cond delay="325"/>
                                          </p:stCondLst>
                                        </p:cTn>
                                        <p:tgtEl>
                                          <p:spTgt spid="4"/>
                                        </p:tgtEl>
                                      </p:cBhvr>
                                      <p:to x="100000" y="60000"/>
                                    </p:animScale>
                                    <p:animScale>
                                      <p:cBhvr>
                                        <p:cTn id="31" dur="83" decel="50000">
                                          <p:stCondLst>
                                            <p:cond delay="338"/>
                                          </p:stCondLst>
                                        </p:cTn>
                                        <p:tgtEl>
                                          <p:spTgt spid="4"/>
                                        </p:tgtEl>
                                      </p:cBhvr>
                                      <p:to x="100000" y="100000"/>
                                    </p:animScale>
                                    <p:animScale>
                                      <p:cBhvr>
                                        <p:cTn id="32" dur="13">
                                          <p:stCondLst>
                                            <p:cond delay="656"/>
                                          </p:stCondLst>
                                        </p:cTn>
                                        <p:tgtEl>
                                          <p:spTgt spid="4"/>
                                        </p:tgtEl>
                                      </p:cBhvr>
                                      <p:to x="100000" y="80000"/>
                                    </p:animScale>
                                    <p:animScale>
                                      <p:cBhvr>
                                        <p:cTn id="33" dur="83" decel="50000">
                                          <p:stCondLst>
                                            <p:cond delay="669"/>
                                          </p:stCondLst>
                                        </p:cTn>
                                        <p:tgtEl>
                                          <p:spTgt spid="4"/>
                                        </p:tgtEl>
                                      </p:cBhvr>
                                      <p:to x="100000" y="100000"/>
                                    </p:animScale>
                                    <p:animScale>
                                      <p:cBhvr>
                                        <p:cTn id="34" dur="13">
                                          <p:stCondLst>
                                            <p:cond delay="821"/>
                                          </p:stCondLst>
                                        </p:cTn>
                                        <p:tgtEl>
                                          <p:spTgt spid="4"/>
                                        </p:tgtEl>
                                      </p:cBhvr>
                                      <p:to x="100000" y="90000"/>
                                    </p:animScale>
                                    <p:animScale>
                                      <p:cBhvr>
                                        <p:cTn id="35" dur="83" decel="50000">
                                          <p:stCondLst>
                                            <p:cond delay="834"/>
                                          </p:stCondLst>
                                        </p:cTn>
                                        <p:tgtEl>
                                          <p:spTgt spid="4"/>
                                        </p:tgtEl>
                                      </p:cBhvr>
                                      <p:to x="100000" y="100000"/>
                                    </p:animScale>
                                    <p:animScale>
                                      <p:cBhvr>
                                        <p:cTn id="36" dur="13">
                                          <p:stCondLst>
                                            <p:cond delay="904"/>
                                          </p:stCondLst>
                                        </p:cTn>
                                        <p:tgtEl>
                                          <p:spTgt spid="4"/>
                                        </p:tgtEl>
                                      </p:cBhvr>
                                      <p:to x="100000" y="95000"/>
                                    </p:animScale>
                                    <p:animScale>
                                      <p:cBhvr>
                                        <p:cTn id="37" dur="83" decel="50000">
                                          <p:stCondLst>
                                            <p:cond delay="917"/>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628458" y="246185"/>
            <a:ext cx="10512980" cy="107817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latin typeface="Times New Roman"/>
                <a:ea typeface="Times New Roman"/>
                <a:cs typeface="Times New Roman"/>
                <a:sym typeface="Times New Roman"/>
              </a:rPr>
              <a:t>ABSTRACT</a:t>
            </a:r>
            <a:endParaRPr dirty="0"/>
          </a:p>
        </p:txBody>
      </p:sp>
      <p:sp>
        <p:nvSpPr>
          <p:cNvPr id="96" name="Google Shape;96;p2"/>
          <p:cNvSpPr txBox="1">
            <a:spLocks noGrp="1"/>
          </p:cNvSpPr>
          <p:nvPr>
            <p:ph type="body" idx="1"/>
          </p:nvPr>
        </p:nvSpPr>
        <p:spPr>
          <a:xfrm>
            <a:off x="441900" y="1510550"/>
            <a:ext cx="11480400" cy="4690800"/>
          </a:xfrm>
          <a:prstGeom prst="rect">
            <a:avLst/>
          </a:prstGeom>
          <a:noFill/>
          <a:ln>
            <a:noFill/>
          </a:ln>
        </p:spPr>
        <p:txBody>
          <a:bodyPr spcFirstLastPara="1" wrap="square" lIns="91425" tIns="45700" rIns="91425" bIns="45700" anchor="t" anchorCtr="0">
            <a:normAutofit/>
          </a:bodyPr>
          <a:lstStyle/>
          <a:p>
            <a:pPr marL="228600" lvl="0" indent="-228600" algn="just" rtl="0">
              <a:lnSpc>
                <a:spcPct val="120000"/>
              </a:lnSpc>
              <a:spcBef>
                <a:spcPts val="1000"/>
              </a:spcBef>
              <a:spcAft>
                <a:spcPts val="0"/>
              </a:spcAft>
              <a:buClr>
                <a:schemeClr val="dk1"/>
              </a:buClr>
              <a:buSzPts val="2000"/>
              <a:buChar char="•"/>
            </a:pPr>
            <a:r>
              <a:rPr lang="en-IN" sz="2000" dirty="0">
                <a:latin typeface="Times New Roman"/>
                <a:ea typeface="Times New Roman"/>
                <a:cs typeface="Times New Roman"/>
                <a:sym typeface="Times New Roman"/>
              </a:rPr>
              <a:t>The project uses the YOLOv8 algorithm to </a:t>
            </a:r>
            <a:r>
              <a:rPr lang="en-IN" sz="2000" dirty="0" err="1">
                <a:latin typeface="Times New Roman"/>
                <a:ea typeface="Times New Roman"/>
                <a:cs typeface="Times New Roman"/>
                <a:sym typeface="Times New Roman"/>
              </a:rPr>
              <a:t>analyze</a:t>
            </a:r>
            <a:r>
              <a:rPr lang="en-IN" sz="2000" dirty="0">
                <a:latin typeface="Times New Roman"/>
                <a:ea typeface="Times New Roman"/>
                <a:cs typeface="Times New Roman"/>
                <a:sym typeface="Times New Roman"/>
              </a:rPr>
              <a:t> real-time video feeds for detecting sudden increases in crowd density and violent activities.</a:t>
            </a:r>
            <a:endParaRPr sz="2000" dirty="0">
              <a:latin typeface="Times New Roman"/>
              <a:ea typeface="Times New Roman"/>
              <a:cs typeface="Times New Roman"/>
              <a:sym typeface="Times New Roman"/>
            </a:endParaRPr>
          </a:p>
          <a:p>
            <a:pPr marL="228600" lvl="0" indent="-228600" algn="just" rtl="0">
              <a:lnSpc>
                <a:spcPct val="120000"/>
              </a:lnSpc>
              <a:spcBef>
                <a:spcPts val="1000"/>
              </a:spcBef>
              <a:spcAft>
                <a:spcPts val="0"/>
              </a:spcAft>
              <a:buClr>
                <a:schemeClr val="dk1"/>
              </a:buClr>
              <a:buSzPts val="2000"/>
              <a:buChar char="•"/>
            </a:pPr>
            <a:r>
              <a:rPr lang="en-IN" sz="2000" dirty="0">
                <a:latin typeface="Times New Roman"/>
                <a:ea typeface="Times New Roman"/>
                <a:cs typeface="Times New Roman"/>
                <a:sym typeface="Times New Roman"/>
              </a:rPr>
              <a:t>Upon detection, the system triggers an alert sound and sends an email notification to the user, enabling quick response.</a:t>
            </a:r>
            <a:endParaRPr sz="2000" dirty="0">
              <a:latin typeface="Times New Roman"/>
              <a:ea typeface="Times New Roman"/>
              <a:cs typeface="Times New Roman"/>
              <a:sym typeface="Times New Roman"/>
            </a:endParaRPr>
          </a:p>
          <a:p>
            <a:pPr marL="228600" lvl="0" indent="-228600" algn="just" rtl="0">
              <a:lnSpc>
                <a:spcPct val="120000"/>
              </a:lnSpc>
              <a:spcBef>
                <a:spcPts val="1000"/>
              </a:spcBef>
              <a:spcAft>
                <a:spcPts val="0"/>
              </a:spcAft>
              <a:buClr>
                <a:schemeClr val="dk1"/>
              </a:buClr>
              <a:buSzPts val="2000"/>
              <a:buChar char="•"/>
            </a:pPr>
            <a:r>
              <a:rPr lang="en-IN" sz="2000" dirty="0">
                <a:latin typeface="Times New Roman"/>
                <a:ea typeface="Times New Roman"/>
                <a:cs typeface="Times New Roman"/>
                <a:sym typeface="Times New Roman"/>
              </a:rPr>
              <a:t>It aims to improve security and public safety in various environments, such as public gatherings, events, and surveillance zones.</a:t>
            </a:r>
            <a:endParaRPr sz="2000" dirty="0">
              <a:latin typeface="Times New Roman"/>
              <a:ea typeface="Times New Roman"/>
              <a:cs typeface="Times New Roman"/>
              <a:sym typeface="Times New Roman"/>
            </a:endParaRPr>
          </a:p>
          <a:p>
            <a:pPr marL="228600" lvl="0" indent="-228600" algn="just" rtl="0">
              <a:lnSpc>
                <a:spcPct val="120000"/>
              </a:lnSpc>
              <a:spcBef>
                <a:spcPts val="1000"/>
              </a:spcBef>
              <a:spcAft>
                <a:spcPts val="0"/>
              </a:spcAft>
              <a:buClr>
                <a:schemeClr val="dk1"/>
              </a:buClr>
              <a:buSzPts val="2000"/>
              <a:buChar char="•"/>
            </a:pPr>
            <a:r>
              <a:rPr lang="en-IN" sz="2000" dirty="0">
                <a:latin typeface="Times New Roman"/>
                <a:ea typeface="Times New Roman"/>
                <a:cs typeface="Times New Roman"/>
                <a:sym typeface="Times New Roman"/>
              </a:rPr>
              <a:t>By automating the monitoring process, the system reduces human error and provides more accurate detection compared to traditional methods.</a:t>
            </a:r>
            <a:endParaRPr sz="2000" dirty="0">
              <a:latin typeface="Times New Roman"/>
              <a:ea typeface="Times New Roman"/>
              <a:cs typeface="Times New Roman"/>
              <a:sym typeface="Times New Roman"/>
            </a:endParaRPr>
          </a:p>
          <a:p>
            <a:pPr marL="228600" lvl="0" indent="-228600" algn="just" rtl="0">
              <a:lnSpc>
                <a:spcPct val="120000"/>
              </a:lnSpc>
              <a:spcBef>
                <a:spcPts val="1000"/>
              </a:spcBef>
              <a:spcAft>
                <a:spcPts val="0"/>
              </a:spcAft>
              <a:buClr>
                <a:schemeClr val="dk1"/>
              </a:buClr>
              <a:buSzPts val="2000"/>
              <a:buChar char="•"/>
            </a:pPr>
            <a:r>
              <a:rPr lang="en-IN" sz="2000" dirty="0">
                <a:latin typeface="Times New Roman"/>
                <a:ea typeface="Times New Roman"/>
                <a:cs typeface="Times New Roman"/>
                <a:sym typeface="Times New Roman"/>
              </a:rPr>
              <a:t>The system continuously improves its accuracy by incorporating additional data and feedback, ensuring long-term effectiveness.</a:t>
            </a:r>
            <a:endParaRPr sz="2000" dirty="0">
              <a:latin typeface="Times New Roman"/>
              <a:ea typeface="Times New Roman"/>
              <a:cs typeface="Times New Roman"/>
              <a:sym typeface="Times New Roman"/>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646320" y="384521"/>
            <a:ext cx="10515600" cy="100695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4400" b="1" dirty="0">
                <a:latin typeface="Times New Roman"/>
                <a:ea typeface="Times New Roman"/>
                <a:cs typeface="Times New Roman"/>
                <a:sym typeface="Times New Roman"/>
              </a:rPr>
              <a:t>INTRODUCTION</a:t>
            </a:r>
            <a:endParaRPr dirty="0"/>
          </a:p>
        </p:txBody>
      </p:sp>
      <p:sp>
        <p:nvSpPr>
          <p:cNvPr id="103" name="Google Shape;103;p3"/>
          <p:cNvSpPr txBox="1">
            <a:spLocks noGrp="1"/>
          </p:cNvSpPr>
          <p:nvPr>
            <p:ph type="body" idx="1"/>
          </p:nvPr>
        </p:nvSpPr>
        <p:spPr>
          <a:xfrm>
            <a:off x="433137" y="1391480"/>
            <a:ext cx="10914313" cy="4784731"/>
          </a:xfrm>
          <a:prstGeom prst="rect">
            <a:avLst/>
          </a:prstGeom>
          <a:noFill/>
          <a:ln>
            <a:noFill/>
          </a:ln>
        </p:spPr>
        <p:txBody>
          <a:bodyPr spcFirstLastPara="1" wrap="square" lIns="91425" tIns="45700" rIns="91425" bIns="45700" anchor="t" anchorCtr="0">
            <a:normAutofit fontScale="70000" lnSpcReduction="20000"/>
          </a:bodyPr>
          <a:lstStyle/>
          <a:p>
            <a:pPr marL="342900" lvl="0" indent="-254000" algn="just" rtl="0">
              <a:lnSpc>
                <a:spcPct val="90000"/>
              </a:lnSpc>
              <a:spcBef>
                <a:spcPts val="0"/>
              </a:spcBef>
              <a:spcAft>
                <a:spcPts val="0"/>
              </a:spcAft>
              <a:buClr>
                <a:srgbClr val="888888"/>
              </a:buClr>
              <a:buSzPct val="100000"/>
              <a:buFont typeface="Arial"/>
              <a:buNone/>
            </a:pPr>
            <a:endParaRPr sz="2000" dirty="0">
              <a:solidFill>
                <a:schemeClr val="dk1"/>
              </a:solidFill>
              <a:latin typeface="Times New Roman"/>
              <a:ea typeface="Times New Roman"/>
              <a:cs typeface="Times New Roman"/>
              <a:sym typeface="Times New Roman"/>
            </a:endParaRPr>
          </a:p>
          <a:p>
            <a:pPr marL="342900" lvl="0" indent="-327660" algn="just" rtl="0">
              <a:lnSpc>
                <a:spcPct val="110000"/>
              </a:lnSpc>
              <a:spcBef>
                <a:spcPts val="1000"/>
              </a:spcBef>
              <a:spcAft>
                <a:spcPts val="0"/>
              </a:spcAft>
              <a:buClr>
                <a:schemeClr val="dk1"/>
              </a:buClr>
              <a:buSzPct val="100000"/>
              <a:buFont typeface="Arial"/>
              <a:buChar char="•"/>
            </a:pPr>
            <a:r>
              <a:rPr lang="en-IN" sz="3200" dirty="0">
                <a:solidFill>
                  <a:schemeClr val="dk1"/>
                </a:solidFill>
                <a:latin typeface="Times New Roman"/>
                <a:ea typeface="Times New Roman"/>
                <a:cs typeface="Times New Roman"/>
                <a:sym typeface="Times New Roman"/>
              </a:rPr>
              <a:t>This project focuses on enhancing public safety by developing a real-time crowd and violence detection system using advanced machine learning techniques, specifically YOLOv8.</a:t>
            </a:r>
            <a:endParaRPr sz="3200" dirty="0">
              <a:solidFill>
                <a:schemeClr val="dk1"/>
              </a:solidFill>
              <a:latin typeface="Times New Roman"/>
              <a:ea typeface="Times New Roman"/>
              <a:cs typeface="Times New Roman"/>
              <a:sym typeface="Times New Roman"/>
            </a:endParaRPr>
          </a:p>
          <a:p>
            <a:pPr marL="342900" lvl="0" indent="-327660" algn="just" rtl="0">
              <a:lnSpc>
                <a:spcPct val="110000"/>
              </a:lnSpc>
              <a:spcBef>
                <a:spcPts val="1000"/>
              </a:spcBef>
              <a:spcAft>
                <a:spcPts val="0"/>
              </a:spcAft>
              <a:buClr>
                <a:schemeClr val="dk1"/>
              </a:buClr>
              <a:buSzPct val="100000"/>
              <a:buFont typeface="Arial"/>
              <a:buChar char="•"/>
            </a:pPr>
            <a:r>
              <a:rPr lang="en-IN" sz="3200" dirty="0">
                <a:solidFill>
                  <a:schemeClr val="dk1"/>
                </a:solidFill>
                <a:latin typeface="Times New Roman"/>
                <a:ea typeface="Times New Roman"/>
                <a:cs typeface="Times New Roman"/>
                <a:sym typeface="Times New Roman"/>
              </a:rPr>
              <a:t>The system is designed to automatically detect sudden changes in crowd density and violent activities in various environments, such as public events and surveillance zones.</a:t>
            </a:r>
            <a:endParaRPr sz="3200" dirty="0">
              <a:solidFill>
                <a:schemeClr val="dk1"/>
              </a:solidFill>
              <a:latin typeface="Times New Roman"/>
              <a:ea typeface="Times New Roman"/>
              <a:cs typeface="Times New Roman"/>
              <a:sym typeface="Times New Roman"/>
            </a:endParaRPr>
          </a:p>
          <a:p>
            <a:pPr marL="342900" lvl="0" indent="-327660" algn="just" rtl="0">
              <a:lnSpc>
                <a:spcPct val="110000"/>
              </a:lnSpc>
              <a:spcBef>
                <a:spcPts val="1000"/>
              </a:spcBef>
              <a:spcAft>
                <a:spcPts val="0"/>
              </a:spcAft>
              <a:buClr>
                <a:schemeClr val="dk1"/>
              </a:buClr>
              <a:buSzPct val="100000"/>
              <a:buFont typeface="Arial"/>
              <a:buChar char="•"/>
            </a:pPr>
            <a:r>
              <a:rPr lang="en-IN" sz="3200" dirty="0">
                <a:solidFill>
                  <a:schemeClr val="dk1"/>
                </a:solidFill>
                <a:latin typeface="Times New Roman"/>
                <a:ea typeface="Times New Roman"/>
                <a:cs typeface="Times New Roman"/>
                <a:sym typeface="Times New Roman"/>
              </a:rPr>
              <a:t>By leveraging YOLOv8’s high accuracy and efficiency, the system can provide real-time alerts, helping security personnel respond quickly to potential threats.</a:t>
            </a:r>
            <a:endParaRPr sz="3200" dirty="0">
              <a:solidFill>
                <a:schemeClr val="dk1"/>
              </a:solidFill>
              <a:latin typeface="Times New Roman"/>
              <a:ea typeface="Times New Roman"/>
              <a:cs typeface="Times New Roman"/>
              <a:sym typeface="Times New Roman"/>
            </a:endParaRPr>
          </a:p>
          <a:p>
            <a:pPr marL="342900" lvl="0" indent="-327660" algn="just" rtl="0">
              <a:lnSpc>
                <a:spcPct val="110000"/>
              </a:lnSpc>
              <a:spcBef>
                <a:spcPts val="1000"/>
              </a:spcBef>
              <a:spcAft>
                <a:spcPts val="0"/>
              </a:spcAft>
              <a:buClr>
                <a:schemeClr val="dk1"/>
              </a:buClr>
              <a:buSzPct val="100000"/>
              <a:buFont typeface="Arial"/>
              <a:buChar char="•"/>
            </a:pPr>
            <a:r>
              <a:rPr lang="en-IN" sz="3200" dirty="0">
                <a:solidFill>
                  <a:schemeClr val="dk1"/>
                </a:solidFill>
                <a:latin typeface="Times New Roman"/>
                <a:ea typeface="Times New Roman"/>
                <a:cs typeface="Times New Roman"/>
                <a:sym typeface="Times New Roman"/>
              </a:rPr>
              <a:t>Traditional surveillance methods often rely on human monitoring, which can be time-consuming and prone to errors, making automated systems a crucial improvement.</a:t>
            </a:r>
            <a:endParaRPr sz="3200" dirty="0">
              <a:solidFill>
                <a:schemeClr val="dk1"/>
              </a:solidFill>
              <a:latin typeface="Times New Roman"/>
              <a:ea typeface="Times New Roman"/>
              <a:cs typeface="Times New Roman"/>
              <a:sym typeface="Times New Roman"/>
            </a:endParaRPr>
          </a:p>
          <a:p>
            <a:pPr marL="342900" lvl="0" indent="-327660" algn="just" rtl="0">
              <a:lnSpc>
                <a:spcPct val="110000"/>
              </a:lnSpc>
              <a:spcBef>
                <a:spcPts val="1000"/>
              </a:spcBef>
              <a:spcAft>
                <a:spcPts val="0"/>
              </a:spcAft>
              <a:buClr>
                <a:schemeClr val="dk1"/>
              </a:buClr>
              <a:buSzPct val="100000"/>
              <a:buFont typeface="Arial"/>
              <a:buChar char="•"/>
            </a:pPr>
            <a:r>
              <a:rPr lang="en-IN" sz="3200" dirty="0">
                <a:solidFill>
                  <a:schemeClr val="dk1"/>
                </a:solidFill>
                <a:latin typeface="Times New Roman"/>
                <a:ea typeface="Times New Roman"/>
                <a:cs typeface="Times New Roman"/>
                <a:sym typeface="Times New Roman"/>
              </a:rPr>
              <a:t>This project aims to fill the gap in current security solutions by integrating real-time detection with automated alerts, improving both safety and response times in high-risk areas.</a:t>
            </a:r>
            <a:endParaRPr sz="3200" dirty="0">
              <a:solidFill>
                <a:schemeClr val="dk1"/>
              </a:solidFill>
              <a:latin typeface="Times New Roman"/>
              <a:ea typeface="Times New Roman"/>
              <a:cs typeface="Times New Roman"/>
              <a:sym typeface="Times New Roman"/>
            </a:endParaRPr>
          </a:p>
          <a:p>
            <a:pPr marL="342900" lvl="0" indent="-200660" algn="just" rtl="0">
              <a:lnSpc>
                <a:spcPct val="110000"/>
              </a:lnSpc>
              <a:spcBef>
                <a:spcPts val="1000"/>
              </a:spcBef>
              <a:spcAft>
                <a:spcPts val="0"/>
              </a:spcAft>
              <a:buClr>
                <a:srgbClr val="888888"/>
              </a:buClr>
              <a:buSzPct val="100000"/>
              <a:buFont typeface="Arial"/>
              <a:buNone/>
            </a:pPr>
            <a:endParaRPr sz="3200" dirty="0">
              <a:solidFill>
                <a:schemeClr val="dk1"/>
              </a:solidFill>
              <a:latin typeface="Times New Roman"/>
              <a:ea typeface="Times New Roman"/>
              <a:cs typeface="Times New Roman"/>
              <a:sym typeface="Times New Roman"/>
            </a:endParaRPr>
          </a:p>
        </p:txBody>
      </p:sp>
      <p:sp>
        <p:nvSpPr>
          <p:cNvPr id="104" name="Google Shape;10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DE0377-3C3C-B774-7983-6DF7C1B279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sp>
        <p:nvSpPr>
          <p:cNvPr id="4" name="TextBox 3">
            <a:extLst>
              <a:ext uri="{FF2B5EF4-FFF2-40B4-BE49-F238E27FC236}">
                <a16:creationId xmlns:a16="http://schemas.microsoft.com/office/drawing/2014/main" id="{6DF31500-0207-6BFD-0F36-1ECD3425FAF5}"/>
              </a:ext>
            </a:extLst>
          </p:cNvPr>
          <p:cNvSpPr txBox="1"/>
          <p:nvPr/>
        </p:nvSpPr>
        <p:spPr>
          <a:xfrm>
            <a:off x="508000" y="438779"/>
            <a:ext cx="6096000" cy="769441"/>
          </a:xfrm>
          <a:prstGeom prst="rect">
            <a:avLst/>
          </a:prstGeom>
          <a:noFill/>
        </p:spPr>
        <p:txBody>
          <a:bodyPr wrap="square">
            <a:spAutoFit/>
          </a:bodyPr>
          <a:lstStyle/>
          <a:p>
            <a:r>
              <a:rPr lang="en-US" sz="4400" b="1" dirty="0">
                <a:solidFill>
                  <a:schemeClr val="tx1"/>
                </a:solidFill>
                <a:latin typeface="Times New Roman" panose="02020603050405020304" pitchFamily="18" charset="0"/>
                <a:cs typeface="Times New Roman" panose="02020603050405020304" pitchFamily="18" charset="0"/>
              </a:rPr>
              <a:t>Objective of the Project</a:t>
            </a:r>
            <a:endParaRPr lang="en-IN" sz="4400" dirty="0">
              <a:solidFill>
                <a:schemeClr val="tx1"/>
              </a:solidFill>
            </a:endParaRPr>
          </a:p>
        </p:txBody>
      </p:sp>
      <p:sp>
        <p:nvSpPr>
          <p:cNvPr id="6" name="TextBox 5">
            <a:extLst>
              <a:ext uri="{FF2B5EF4-FFF2-40B4-BE49-F238E27FC236}">
                <a16:creationId xmlns:a16="http://schemas.microsoft.com/office/drawing/2014/main" id="{8C33A608-6979-4A5A-B468-210F46876234}"/>
              </a:ext>
            </a:extLst>
          </p:cNvPr>
          <p:cNvSpPr txBox="1"/>
          <p:nvPr/>
        </p:nvSpPr>
        <p:spPr>
          <a:xfrm>
            <a:off x="516467" y="1740595"/>
            <a:ext cx="11616266" cy="4093428"/>
          </a:xfrm>
          <a:prstGeom prst="rect">
            <a:avLst/>
          </a:prstGeom>
          <a:noFill/>
        </p:spPr>
        <p:txBody>
          <a:bodyPr wrap="square">
            <a:spAutoFit/>
          </a:bodyPr>
          <a:lstStyle/>
          <a:p>
            <a:pPr marL="342900" indent="-342900">
              <a:buFont typeface="Arial" panose="020B0604020202020204" pitchFamily="34" charset="0"/>
              <a:buChar char="•"/>
            </a:pPr>
            <a:r>
              <a:rPr lang="en-US" sz="2000" b="1" dirty="0"/>
              <a:t>Develop a Real-Time Detection System</a:t>
            </a:r>
            <a:r>
              <a:rPr lang="en-US" sz="2000" dirty="0"/>
              <a:t> – Implement YOLOv8 for crowd and violence detection.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Enhance Public Safety</a:t>
            </a:r>
            <a:r>
              <a:rPr lang="en-US" sz="2000" dirty="0"/>
              <a:t> – Enable rapid response through automated alerts.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Utilize Advanced Object Detection</a:t>
            </a:r>
            <a:r>
              <a:rPr lang="en-US" sz="2000" dirty="0"/>
              <a:t> – Ensure high accuracy and speed in detecting anomalies.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Integrate a User-Friendly Interface</a:t>
            </a:r>
            <a:r>
              <a:rPr lang="en-US" sz="2000" dirty="0"/>
              <a:t> – Simplify monitoring and response actions.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Automate Alert Mechanisms</a:t>
            </a:r>
            <a:r>
              <a:rPr lang="en-US" sz="2000" dirty="0"/>
              <a:t> – Provide instant alerts through sound and email notifications.</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b="1" dirty="0"/>
              <a:t>Ensure System Scalability and Reliability</a:t>
            </a:r>
            <a:r>
              <a:rPr lang="en-US" sz="2000" dirty="0"/>
              <a:t> – Adapt to different surveillance settings.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Improve Model Accuracy Over Time</a:t>
            </a:r>
            <a:r>
              <a:rPr lang="en-US" sz="2000" dirty="0"/>
              <a:t> – Enhance detection with continuous learning.</a:t>
            </a:r>
          </a:p>
        </p:txBody>
      </p:sp>
    </p:spTree>
    <p:extLst>
      <p:ext uri="{BB962C8B-B14F-4D97-AF65-F5344CB8AC3E}">
        <p14:creationId xmlns:p14="http://schemas.microsoft.com/office/powerpoint/2010/main" val="2479457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10" name="Google Shape;1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5</a:t>
            </a:fld>
            <a:endParaRPr/>
          </a:p>
        </p:txBody>
      </p:sp>
      <p:graphicFrame>
        <p:nvGraphicFramePr>
          <p:cNvPr id="111" name="Google Shape;111;p4"/>
          <p:cNvGraphicFramePr/>
          <p:nvPr/>
        </p:nvGraphicFramePr>
        <p:xfrm>
          <a:off x="1033600" y="1795675"/>
          <a:ext cx="9739950" cy="4135575"/>
        </p:xfrm>
        <a:graphic>
          <a:graphicData uri="http://schemas.openxmlformats.org/drawingml/2006/table">
            <a:tbl>
              <a:tblPr>
                <a:noFill/>
                <a:tableStyleId>{FB83D1A6-765B-4AAD-898E-D1D04EDBE16B}</a:tableStyleId>
              </a:tblPr>
              <a:tblGrid>
                <a:gridCol w="1884325">
                  <a:extLst>
                    <a:ext uri="{9D8B030D-6E8A-4147-A177-3AD203B41FA5}">
                      <a16:colId xmlns:a16="http://schemas.microsoft.com/office/drawing/2014/main" val="20000"/>
                    </a:ext>
                  </a:extLst>
                </a:gridCol>
                <a:gridCol w="1914650">
                  <a:extLst>
                    <a:ext uri="{9D8B030D-6E8A-4147-A177-3AD203B41FA5}">
                      <a16:colId xmlns:a16="http://schemas.microsoft.com/office/drawing/2014/main" val="20001"/>
                    </a:ext>
                  </a:extLst>
                </a:gridCol>
                <a:gridCol w="2157150">
                  <a:extLst>
                    <a:ext uri="{9D8B030D-6E8A-4147-A177-3AD203B41FA5}">
                      <a16:colId xmlns:a16="http://schemas.microsoft.com/office/drawing/2014/main" val="20002"/>
                    </a:ext>
                  </a:extLst>
                </a:gridCol>
                <a:gridCol w="1884325">
                  <a:extLst>
                    <a:ext uri="{9D8B030D-6E8A-4147-A177-3AD203B41FA5}">
                      <a16:colId xmlns:a16="http://schemas.microsoft.com/office/drawing/2014/main" val="20003"/>
                    </a:ext>
                  </a:extLst>
                </a:gridCol>
                <a:gridCol w="1899500">
                  <a:extLst>
                    <a:ext uri="{9D8B030D-6E8A-4147-A177-3AD203B41FA5}">
                      <a16:colId xmlns:a16="http://schemas.microsoft.com/office/drawing/2014/main" val="20004"/>
                    </a:ext>
                  </a:extLst>
                </a:gridCol>
              </a:tblGrid>
              <a:tr h="63462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3500950">
                <a:tc>
                  <a:txBody>
                    <a:bodyPr/>
                    <a:lstStyle/>
                    <a:p>
                      <a:pPr marL="0" marR="0" lvl="0" indent="0" algn="just"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Real-Time Violence and Weapon Detection and Alert System (2024)</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More, P., Patil, S., &amp; Pattanshetti, T.</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This system focuses on real-time detection of violence and weaponry through surveillance. It employs advanced machine learning models to identify violent activities and weapons in crowded environments, triggering alerts for quick response.</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Provides instant alerts for security personnel, improving response speed during emergencies.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Requires significant computational resources to handle real-time video feeds efficiently.</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33c34e81e66_0_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17" name="Google Shape;117;g33c34e81e66_0_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graphicFrame>
        <p:nvGraphicFramePr>
          <p:cNvPr id="118" name="Google Shape;118;g33c34e81e66_0_4"/>
          <p:cNvGraphicFramePr/>
          <p:nvPr/>
        </p:nvGraphicFramePr>
        <p:xfrm>
          <a:off x="1505950" y="2164350"/>
          <a:ext cx="9057650" cy="2850730"/>
        </p:xfrm>
        <a:graphic>
          <a:graphicData uri="http://schemas.openxmlformats.org/drawingml/2006/table">
            <a:tbl>
              <a:tblPr>
                <a:noFill/>
                <a:tableStyleId>{FB83D1A6-765B-4AAD-898E-D1D04EDBE16B}</a:tableStyleId>
              </a:tblPr>
              <a:tblGrid>
                <a:gridCol w="1752325">
                  <a:extLst>
                    <a:ext uri="{9D8B030D-6E8A-4147-A177-3AD203B41FA5}">
                      <a16:colId xmlns:a16="http://schemas.microsoft.com/office/drawing/2014/main" val="20000"/>
                    </a:ext>
                  </a:extLst>
                </a:gridCol>
                <a:gridCol w="1780525">
                  <a:extLst>
                    <a:ext uri="{9D8B030D-6E8A-4147-A177-3AD203B41FA5}">
                      <a16:colId xmlns:a16="http://schemas.microsoft.com/office/drawing/2014/main" val="20001"/>
                    </a:ext>
                  </a:extLst>
                </a:gridCol>
                <a:gridCol w="2006050">
                  <a:extLst>
                    <a:ext uri="{9D8B030D-6E8A-4147-A177-3AD203B41FA5}">
                      <a16:colId xmlns:a16="http://schemas.microsoft.com/office/drawing/2014/main" val="20002"/>
                    </a:ext>
                  </a:extLst>
                </a:gridCol>
                <a:gridCol w="1752325">
                  <a:extLst>
                    <a:ext uri="{9D8B030D-6E8A-4147-A177-3AD203B41FA5}">
                      <a16:colId xmlns:a16="http://schemas.microsoft.com/office/drawing/2014/main" val="20003"/>
                    </a:ext>
                  </a:extLst>
                </a:gridCol>
                <a:gridCol w="1766425">
                  <a:extLst>
                    <a:ext uri="{9D8B030D-6E8A-4147-A177-3AD203B41FA5}">
                      <a16:colId xmlns:a16="http://schemas.microsoft.com/office/drawing/2014/main" val="20004"/>
                    </a:ext>
                  </a:extLst>
                </a:gridCol>
              </a:tblGrid>
              <a:tr h="535075">
                <a:tc>
                  <a:txBody>
                    <a:bodyPr/>
                    <a:lstStyle/>
                    <a:p>
                      <a:pPr marL="0" marR="0" lvl="0" indent="0" algn="ctr"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Title</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Authors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Description</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Advantages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Disadvantages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283275">
                <a:tc>
                  <a:txBody>
                    <a:bodyPr/>
                    <a:lstStyle/>
                    <a:p>
                      <a:pPr marL="0" marR="0" lvl="0" indent="0" algn="just"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Proactive Headcount and Suspicious Activity Detection Using YOLOv8 (2023)</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Sudharson, D., Srinithi, J., Akshara, S., Abhirami, K., Sriharshitha, P., &amp; Priyanka, K.</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Utilizes YOLOv8 for headcount and suspicious activity detection in crowded areas. The system automatically counts people and detects irregular behavior to improve crowd management and security.</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Ensures accurate crowd counting and activity monitoring, enhancing public safety in crowded spaces.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just"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Accuracy can be affected by poor video quality or large crowd density.</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3c34e81e66_0_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24" name="Google Shape;124;g33c34e81e66_0_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7</a:t>
            </a:fld>
            <a:endParaRPr/>
          </a:p>
        </p:txBody>
      </p:sp>
      <p:graphicFrame>
        <p:nvGraphicFramePr>
          <p:cNvPr id="125" name="Google Shape;125;g33c34e81e66_0_11"/>
          <p:cNvGraphicFramePr/>
          <p:nvPr/>
        </p:nvGraphicFramePr>
        <p:xfrm>
          <a:off x="1578250" y="1928125"/>
          <a:ext cx="9346325" cy="3347425"/>
        </p:xfrm>
        <a:graphic>
          <a:graphicData uri="http://schemas.openxmlformats.org/drawingml/2006/table">
            <a:tbl>
              <a:tblPr>
                <a:noFill/>
                <a:tableStyleId>{FB83D1A6-765B-4AAD-898E-D1D04EDBE16B}</a:tableStyleId>
              </a:tblPr>
              <a:tblGrid>
                <a:gridCol w="1808175">
                  <a:extLst>
                    <a:ext uri="{9D8B030D-6E8A-4147-A177-3AD203B41FA5}">
                      <a16:colId xmlns:a16="http://schemas.microsoft.com/office/drawing/2014/main" val="20000"/>
                    </a:ext>
                  </a:extLst>
                </a:gridCol>
                <a:gridCol w="1837275">
                  <a:extLst>
                    <a:ext uri="{9D8B030D-6E8A-4147-A177-3AD203B41FA5}">
                      <a16:colId xmlns:a16="http://schemas.microsoft.com/office/drawing/2014/main" val="20001"/>
                    </a:ext>
                  </a:extLst>
                </a:gridCol>
                <a:gridCol w="2069975">
                  <a:extLst>
                    <a:ext uri="{9D8B030D-6E8A-4147-A177-3AD203B41FA5}">
                      <a16:colId xmlns:a16="http://schemas.microsoft.com/office/drawing/2014/main" val="20002"/>
                    </a:ext>
                  </a:extLst>
                </a:gridCol>
                <a:gridCol w="1808175">
                  <a:extLst>
                    <a:ext uri="{9D8B030D-6E8A-4147-A177-3AD203B41FA5}">
                      <a16:colId xmlns:a16="http://schemas.microsoft.com/office/drawing/2014/main" val="20003"/>
                    </a:ext>
                  </a:extLst>
                </a:gridCol>
                <a:gridCol w="1822725">
                  <a:extLst>
                    <a:ext uri="{9D8B030D-6E8A-4147-A177-3AD203B41FA5}">
                      <a16:colId xmlns:a16="http://schemas.microsoft.com/office/drawing/2014/main" val="20004"/>
                    </a:ext>
                  </a:extLst>
                </a:gridCol>
              </a:tblGrid>
              <a:tr h="80027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547150">
                <a:tc>
                  <a:txBody>
                    <a:bodyPr/>
                    <a:lstStyle/>
                    <a:p>
                      <a:pPr marL="0" marR="0" lvl="0" indent="0" algn="l"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YOLOv8-Based Person Detection, Distance Monitoring, Speech Alerts, and Weapon Identification with Email Notifications (2024)</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Jyothsna, V., Alle, C., Kurnutala, R., Ganesh, K. N., KushalKarthik, K. R., &amp; Pydala, B.</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This system uses YOLOv8 for detecting individuals, monitoring distances, identifying weapons, and providing speech alerts and email notifications to security personnel.</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Combines person detection with distance monitoring and weapon detection for comprehensive security.</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Potential false positives in crowded areas leading to unnecessary alerts.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33c34e81e66_0_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31" name="Google Shape;131;g33c34e81e66_0_1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8</a:t>
            </a:fld>
            <a:endParaRPr/>
          </a:p>
        </p:txBody>
      </p:sp>
      <p:graphicFrame>
        <p:nvGraphicFramePr>
          <p:cNvPr id="132" name="Google Shape;132;g33c34e81e66_0_19"/>
          <p:cNvGraphicFramePr/>
          <p:nvPr/>
        </p:nvGraphicFramePr>
        <p:xfrm>
          <a:off x="1578250" y="1928125"/>
          <a:ext cx="9346325" cy="3347425"/>
        </p:xfrm>
        <a:graphic>
          <a:graphicData uri="http://schemas.openxmlformats.org/drawingml/2006/table">
            <a:tbl>
              <a:tblPr>
                <a:noFill/>
                <a:tableStyleId>{FB83D1A6-765B-4AAD-898E-D1D04EDBE16B}</a:tableStyleId>
              </a:tblPr>
              <a:tblGrid>
                <a:gridCol w="1808175">
                  <a:extLst>
                    <a:ext uri="{9D8B030D-6E8A-4147-A177-3AD203B41FA5}">
                      <a16:colId xmlns:a16="http://schemas.microsoft.com/office/drawing/2014/main" val="20000"/>
                    </a:ext>
                  </a:extLst>
                </a:gridCol>
                <a:gridCol w="1837275">
                  <a:extLst>
                    <a:ext uri="{9D8B030D-6E8A-4147-A177-3AD203B41FA5}">
                      <a16:colId xmlns:a16="http://schemas.microsoft.com/office/drawing/2014/main" val="20001"/>
                    </a:ext>
                  </a:extLst>
                </a:gridCol>
                <a:gridCol w="2069975">
                  <a:extLst>
                    <a:ext uri="{9D8B030D-6E8A-4147-A177-3AD203B41FA5}">
                      <a16:colId xmlns:a16="http://schemas.microsoft.com/office/drawing/2014/main" val="20002"/>
                    </a:ext>
                  </a:extLst>
                </a:gridCol>
                <a:gridCol w="1808175">
                  <a:extLst>
                    <a:ext uri="{9D8B030D-6E8A-4147-A177-3AD203B41FA5}">
                      <a16:colId xmlns:a16="http://schemas.microsoft.com/office/drawing/2014/main" val="20003"/>
                    </a:ext>
                  </a:extLst>
                </a:gridCol>
                <a:gridCol w="1822725">
                  <a:extLst>
                    <a:ext uri="{9D8B030D-6E8A-4147-A177-3AD203B41FA5}">
                      <a16:colId xmlns:a16="http://schemas.microsoft.com/office/drawing/2014/main" val="20004"/>
                    </a:ext>
                  </a:extLst>
                </a:gridCol>
              </a:tblGrid>
              <a:tr h="80027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547150">
                <a:tc>
                  <a:txBody>
                    <a:bodyPr/>
                    <a:lstStyle/>
                    <a:p>
                      <a:pPr marL="0" marR="0" lvl="0" indent="0" algn="l"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Human Crowd Detection for City-Wide Surveillance (2020)</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Singh, D. K., Paroothi, S., Rusia, M. K., &amp; Ansari, M. A.</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Presents a method for detecting human crowds in city-wide surveillance systems, helping authorities manage public events and potential threats by recognizing crowd patterns.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Effective in real-time monitoring of crowd behavior in city-wide surveillance systems.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Limited in dense scenarios where distinguishing between individuals and large groups is challenging.</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3c34e81e66_0_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38" name="Google Shape;138;g33c34e81e66_0_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graphicFrame>
        <p:nvGraphicFramePr>
          <p:cNvPr id="139" name="Google Shape;139;g33c34e81e66_0_27"/>
          <p:cNvGraphicFramePr/>
          <p:nvPr/>
        </p:nvGraphicFramePr>
        <p:xfrm>
          <a:off x="1578250" y="1928125"/>
          <a:ext cx="9346325" cy="3347425"/>
        </p:xfrm>
        <a:graphic>
          <a:graphicData uri="http://schemas.openxmlformats.org/drawingml/2006/table">
            <a:tbl>
              <a:tblPr>
                <a:noFill/>
                <a:tableStyleId>{FB83D1A6-765B-4AAD-898E-D1D04EDBE16B}</a:tableStyleId>
              </a:tblPr>
              <a:tblGrid>
                <a:gridCol w="1808175">
                  <a:extLst>
                    <a:ext uri="{9D8B030D-6E8A-4147-A177-3AD203B41FA5}">
                      <a16:colId xmlns:a16="http://schemas.microsoft.com/office/drawing/2014/main" val="20000"/>
                    </a:ext>
                  </a:extLst>
                </a:gridCol>
                <a:gridCol w="1837275">
                  <a:extLst>
                    <a:ext uri="{9D8B030D-6E8A-4147-A177-3AD203B41FA5}">
                      <a16:colId xmlns:a16="http://schemas.microsoft.com/office/drawing/2014/main" val="20001"/>
                    </a:ext>
                  </a:extLst>
                </a:gridCol>
                <a:gridCol w="2069975">
                  <a:extLst>
                    <a:ext uri="{9D8B030D-6E8A-4147-A177-3AD203B41FA5}">
                      <a16:colId xmlns:a16="http://schemas.microsoft.com/office/drawing/2014/main" val="20002"/>
                    </a:ext>
                  </a:extLst>
                </a:gridCol>
                <a:gridCol w="1808175">
                  <a:extLst>
                    <a:ext uri="{9D8B030D-6E8A-4147-A177-3AD203B41FA5}">
                      <a16:colId xmlns:a16="http://schemas.microsoft.com/office/drawing/2014/main" val="20003"/>
                    </a:ext>
                  </a:extLst>
                </a:gridCol>
                <a:gridCol w="1822725">
                  <a:extLst>
                    <a:ext uri="{9D8B030D-6E8A-4147-A177-3AD203B41FA5}">
                      <a16:colId xmlns:a16="http://schemas.microsoft.com/office/drawing/2014/main" val="20004"/>
                    </a:ext>
                  </a:extLst>
                </a:gridCol>
              </a:tblGrid>
              <a:tr h="80027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547150">
                <a:tc>
                  <a:txBody>
                    <a:bodyPr/>
                    <a:lstStyle/>
                    <a:p>
                      <a:pPr marL="0" marR="0" lvl="0" indent="0" algn="l" rtl="0">
                        <a:lnSpc>
                          <a:spcPct val="115000"/>
                        </a:lnSpc>
                        <a:spcBef>
                          <a:spcPts val="0"/>
                        </a:spcBef>
                        <a:spcAft>
                          <a:spcPts val="0"/>
                        </a:spcAft>
                        <a:buClr>
                          <a:srgbClr val="000000"/>
                        </a:buClr>
                        <a:buSzPts val="1300"/>
                        <a:buFont typeface="Arial"/>
                        <a:buNone/>
                      </a:pPr>
                      <a:r>
                        <a:rPr lang="en-IN" sz="1300" b="1" u="none" strike="noStrike" cap="none">
                          <a:latin typeface="Times New Roman"/>
                          <a:ea typeface="Times New Roman"/>
                          <a:cs typeface="Times New Roman"/>
                          <a:sym typeface="Times New Roman"/>
                        </a:rPr>
                        <a:t>An Enhanced Framework for Real-Time Dense Crowd Abnormal Behavior Detection Using YOLOv8 (2024)</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Nasir, R., Jalil, Z., Nasir, M., Noor, U., Ashraf, M., &amp; Saleem, S.</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Uses YOLOv8 to detect abnormal behaviors in dense crowds, sending alerts for suspicious activities in real-time to enhance security.</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Provides early detection of potential threats in dense crowds, improving security response times.</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The system may struggle in extremely dense environments where distinguishing actions is difficult.</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3c34e81e66_0_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45" name="Google Shape;145;g33c34e81e66_0_3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10</a:t>
            </a:fld>
            <a:endParaRPr/>
          </a:p>
        </p:txBody>
      </p:sp>
      <p:graphicFrame>
        <p:nvGraphicFramePr>
          <p:cNvPr id="146" name="Google Shape;146;g33c34e81e66_0_35"/>
          <p:cNvGraphicFramePr/>
          <p:nvPr/>
        </p:nvGraphicFramePr>
        <p:xfrm>
          <a:off x="1578250" y="1928125"/>
          <a:ext cx="9346325" cy="3347425"/>
        </p:xfrm>
        <a:graphic>
          <a:graphicData uri="http://schemas.openxmlformats.org/drawingml/2006/table">
            <a:tbl>
              <a:tblPr>
                <a:noFill/>
                <a:tableStyleId>{FB83D1A6-765B-4AAD-898E-D1D04EDBE16B}</a:tableStyleId>
              </a:tblPr>
              <a:tblGrid>
                <a:gridCol w="1808175">
                  <a:extLst>
                    <a:ext uri="{9D8B030D-6E8A-4147-A177-3AD203B41FA5}">
                      <a16:colId xmlns:a16="http://schemas.microsoft.com/office/drawing/2014/main" val="20000"/>
                    </a:ext>
                  </a:extLst>
                </a:gridCol>
                <a:gridCol w="1837275">
                  <a:extLst>
                    <a:ext uri="{9D8B030D-6E8A-4147-A177-3AD203B41FA5}">
                      <a16:colId xmlns:a16="http://schemas.microsoft.com/office/drawing/2014/main" val="20001"/>
                    </a:ext>
                  </a:extLst>
                </a:gridCol>
                <a:gridCol w="2069975">
                  <a:extLst>
                    <a:ext uri="{9D8B030D-6E8A-4147-A177-3AD203B41FA5}">
                      <a16:colId xmlns:a16="http://schemas.microsoft.com/office/drawing/2014/main" val="20002"/>
                    </a:ext>
                  </a:extLst>
                </a:gridCol>
                <a:gridCol w="1808175">
                  <a:extLst>
                    <a:ext uri="{9D8B030D-6E8A-4147-A177-3AD203B41FA5}">
                      <a16:colId xmlns:a16="http://schemas.microsoft.com/office/drawing/2014/main" val="20003"/>
                    </a:ext>
                  </a:extLst>
                </a:gridCol>
                <a:gridCol w="1822725">
                  <a:extLst>
                    <a:ext uri="{9D8B030D-6E8A-4147-A177-3AD203B41FA5}">
                      <a16:colId xmlns:a16="http://schemas.microsoft.com/office/drawing/2014/main" val="20004"/>
                    </a:ext>
                  </a:extLst>
                </a:gridCol>
              </a:tblGrid>
              <a:tr h="80027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547150">
                <a:tc>
                  <a:txBody>
                    <a:bodyPr/>
                    <a:lstStyle/>
                    <a:p>
                      <a:pPr marL="0" marR="0" lvl="0" indent="0" algn="l" rtl="0">
                        <a:lnSpc>
                          <a:spcPct val="115000"/>
                        </a:lnSpc>
                        <a:spcBef>
                          <a:spcPts val="0"/>
                        </a:spcBef>
                        <a:spcAft>
                          <a:spcPts val="0"/>
                        </a:spcAft>
                        <a:buClr>
                          <a:srgbClr val="000000"/>
                        </a:buClr>
                        <a:buSzPts val="1400"/>
                        <a:buFont typeface="Arial"/>
                        <a:buNone/>
                      </a:pPr>
                      <a:r>
                        <a:rPr lang="en-IN" sz="1400" b="1" u="none" strike="noStrike" cap="none">
                          <a:latin typeface="Times New Roman"/>
                          <a:ea typeface="Times New Roman"/>
                          <a:cs typeface="Times New Roman"/>
                          <a:sym typeface="Times New Roman"/>
                        </a:rPr>
                        <a:t>Efficient Aggressive Behaviour Detection and Alert System Employing Deep Learning Techniques (2024)</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Inbavalli, A., Jarshini, T., &amp; Muralikrishnaa, M.</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Discusses an aggressive behavior detection system using deep learning models that identifies aggressive actions through video analysis and sends real-time alerts.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Effectively detects aggressive behavior, enabling timely security intervention.</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IN" sz="1400" u="none" strike="noStrike" cap="none">
                          <a:latin typeface="Times New Roman"/>
                          <a:ea typeface="Times New Roman"/>
                          <a:cs typeface="Times New Roman"/>
                          <a:sym typeface="Times New Roman"/>
                        </a:rPr>
                        <a:t>May require high computational power, especially with multiple camera feeds.</a:t>
                      </a:r>
                      <a:endParaRPr sz="14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33c34e81e66_0_4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LITERATURE SURVEY</a:t>
            </a:r>
            <a:endParaRPr b="1">
              <a:latin typeface="Times New Roman"/>
              <a:ea typeface="Times New Roman"/>
              <a:cs typeface="Times New Roman"/>
              <a:sym typeface="Times New Roman"/>
            </a:endParaRPr>
          </a:p>
        </p:txBody>
      </p:sp>
      <p:sp>
        <p:nvSpPr>
          <p:cNvPr id="152" name="Google Shape;152;g33c34e81e66_0_4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11</a:t>
            </a:fld>
            <a:endParaRPr/>
          </a:p>
        </p:txBody>
      </p:sp>
      <p:graphicFrame>
        <p:nvGraphicFramePr>
          <p:cNvPr id="153" name="Google Shape;153;g33c34e81e66_0_43"/>
          <p:cNvGraphicFramePr/>
          <p:nvPr/>
        </p:nvGraphicFramePr>
        <p:xfrm>
          <a:off x="1578250" y="1928125"/>
          <a:ext cx="9346325" cy="3347425"/>
        </p:xfrm>
        <a:graphic>
          <a:graphicData uri="http://schemas.openxmlformats.org/drawingml/2006/table">
            <a:tbl>
              <a:tblPr>
                <a:noFill/>
                <a:tableStyleId>{FB83D1A6-765B-4AAD-898E-D1D04EDBE16B}</a:tableStyleId>
              </a:tblPr>
              <a:tblGrid>
                <a:gridCol w="1808175">
                  <a:extLst>
                    <a:ext uri="{9D8B030D-6E8A-4147-A177-3AD203B41FA5}">
                      <a16:colId xmlns:a16="http://schemas.microsoft.com/office/drawing/2014/main" val="20000"/>
                    </a:ext>
                  </a:extLst>
                </a:gridCol>
                <a:gridCol w="1837275">
                  <a:extLst>
                    <a:ext uri="{9D8B030D-6E8A-4147-A177-3AD203B41FA5}">
                      <a16:colId xmlns:a16="http://schemas.microsoft.com/office/drawing/2014/main" val="20001"/>
                    </a:ext>
                  </a:extLst>
                </a:gridCol>
                <a:gridCol w="2069975">
                  <a:extLst>
                    <a:ext uri="{9D8B030D-6E8A-4147-A177-3AD203B41FA5}">
                      <a16:colId xmlns:a16="http://schemas.microsoft.com/office/drawing/2014/main" val="20002"/>
                    </a:ext>
                  </a:extLst>
                </a:gridCol>
                <a:gridCol w="1808175">
                  <a:extLst>
                    <a:ext uri="{9D8B030D-6E8A-4147-A177-3AD203B41FA5}">
                      <a16:colId xmlns:a16="http://schemas.microsoft.com/office/drawing/2014/main" val="20003"/>
                    </a:ext>
                  </a:extLst>
                </a:gridCol>
                <a:gridCol w="1822725">
                  <a:extLst>
                    <a:ext uri="{9D8B030D-6E8A-4147-A177-3AD203B41FA5}">
                      <a16:colId xmlns:a16="http://schemas.microsoft.com/office/drawing/2014/main" val="20004"/>
                    </a:ext>
                  </a:extLst>
                </a:gridCol>
              </a:tblGrid>
              <a:tr h="800275">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Title</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Authors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Description</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IN" sz="1200" b="1" u="none" strike="noStrike" cap="none">
                          <a:latin typeface="Times New Roman"/>
                          <a:ea typeface="Times New Roman"/>
                          <a:cs typeface="Times New Roman"/>
                          <a:sym typeface="Times New Roman"/>
                        </a:rPr>
                        <a:t>Disadvantages</a:t>
                      </a:r>
                      <a:endParaRPr sz="12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2547150">
                <a:tc>
                  <a:txBody>
                    <a:bodyPr/>
                    <a:lstStyle/>
                    <a:p>
                      <a:pPr marL="0" marR="0" lvl="0" indent="0" algn="l" rtl="0">
                        <a:lnSpc>
                          <a:spcPct val="115000"/>
                        </a:lnSpc>
                        <a:spcBef>
                          <a:spcPts val="0"/>
                        </a:spcBef>
                        <a:spcAft>
                          <a:spcPts val="0"/>
                        </a:spcAft>
                        <a:buClr>
                          <a:srgbClr val="000000"/>
                        </a:buClr>
                        <a:buSzPts val="1300"/>
                        <a:buFont typeface="Arial"/>
                        <a:buNone/>
                      </a:pPr>
                      <a:r>
                        <a:rPr lang="en-IN" sz="1300" b="1" u="none" strike="noStrike" cap="none">
                          <a:latin typeface="Times New Roman"/>
                          <a:ea typeface="Times New Roman"/>
                          <a:cs typeface="Times New Roman"/>
                          <a:sym typeface="Times New Roman"/>
                        </a:rPr>
                        <a:t>Violence-YOLO: Enhanced GELAN Algorithm for Violence Detection (2024)</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Xu, W., Zhu, D., Deng, R., Yung, K., &amp; Ip, A. W.</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Introduces Violence-YOLO, an enhanced GELAN algorithm for improving violence detection in public spaces, optimized for high-accuracy detection of violent confrontations.</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Offers higher detection accuracy for violence in diverse environments, improving response time.</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tc>
                  <a:txBody>
                    <a:bodyPr/>
                    <a:lstStyle/>
                    <a:p>
                      <a:pPr marL="0" marR="0" lvl="0" indent="0" algn="l" rtl="0">
                        <a:lnSpc>
                          <a:spcPct val="115000"/>
                        </a:lnSpc>
                        <a:spcBef>
                          <a:spcPts val="0"/>
                        </a:spcBef>
                        <a:spcAft>
                          <a:spcPts val="0"/>
                        </a:spcAft>
                        <a:buClr>
                          <a:srgbClr val="000000"/>
                        </a:buClr>
                        <a:buSzPts val="1300"/>
                        <a:buFont typeface="Arial"/>
                        <a:buNone/>
                      </a:pPr>
                      <a:r>
                        <a:rPr lang="en-IN" sz="1300" u="none" strike="noStrike" cap="none">
                          <a:latin typeface="Times New Roman"/>
                          <a:ea typeface="Times New Roman"/>
                          <a:cs typeface="Times New Roman"/>
                          <a:sym typeface="Times New Roman"/>
                        </a:rPr>
                        <a:t>Detection may be delayed with extreme or rapid violence actions.</a:t>
                      </a:r>
                      <a:endParaRPr sz="1300" u="none" strike="noStrike" cap="none">
                        <a:latin typeface="Times New Roman"/>
                        <a:ea typeface="Times New Roman"/>
                        <a:cs typeface="Times New Roman"/>
                        <a:sym typeface="Times New Roman"/>
                      </a:endParaRPr>
                    </a:p>
                  </a:txBody>
                  <a:tcPr marL="63500" marR="63500" marT="63500" marB="6350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0E0E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3CC208-5CE9-FBF5-2DFC-B68D3D7622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
        <p:nvSpPr>
          <p:cNvPr id="4" name="TextBox 3">
            <a:extLst>
              <a:ext uri="{FF2B5EF4-FFF2-40B4-BE49-F238E27FC236}">
                <a16:creationId xmlns:a16="http://schemas.microsoft.com/office/drawing/2014/main" id="{2ED527BC-DA7D-95BD-814C-D67991D1E81C}"/>
              </a:ext>
            </a:extLst>
          </p:cNvPr>
          <p:cNvSpPr txBox="1"/>
          <p:nvPr/>
        </p:nvSpPr>
        <p:spPr>
          <a:xfrm>
            <a:off x="287866" y="328712"/>
            <a:ext cx="6096000" cy="769441"/>
          </a:xfrm>
          <a:prstGeom prst="rect">
            <a:avLst/>
          </a:prstGeom>
          <a:noFill/>
        </p:spPr>
        <p:txBody>
          <a:bodyPr wrap="square">
            <a:spAutoFit/>
          </a:bodyPr>
          <a:lstStyle/>
          <a:p>
            <a:r>
              <a:rPr lang="en-US" sz="4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4400" dirty="0">
              <a:solidFill>
                <a:schemeClr val="tx1"/>
              </a:solidFill>
            </a:endParaRPr>
          </a:p>
        </p:txBody>
      </p:sp>
      <p:sp>
        <p:nvSpPr>
          <p:cNvPr id="6" name="TextBox 5">
            <a:extLst>
              <a:ext uri="{FF2B5EF4-FFF2-40B4-BE49-F238E27FC236}">
                <a16:creationId xmlns:a16="http://schemas.microsoft.com/office/drawing/2014/main" id="{048638C3-6E73-4C58-E547-1A6A8FA65A69}"/>
              </a:ext>
            </a:extLst>
          </p:cNvPr>
          <p:cNvSpPr txBox="1"/>
          <p:nvPr/>
        </p:nvSpPr>
        <p:spPr>
          <a:xfrm>
            <a:off x="287865" y="1507100"/>
            <a:ext cx="11641668" cy="3884397"/>
          </a:xfrm>
          <a:prstGeom prst="rect">
            <a:avLst/>
          </a:prstGeom>
          <a:noFill/>
        </p:spPr>
        <p:txBody>
          <a:bodyPr wrap="square">
            <a:spAutoFit/>
          </a:bodyPr>
          <a:lstStyle/>
          <a:p>
            <a:pPr algn="just">
              <a:lnSpc>
                <a:spcPct val="200000"/>
              </a:lnSpc>
            </a:pPr>
            <a:r>
              <a:rPr lang="en-US" sz="1800" dirty="0"/>
              <a:t>Traditional surveillance relies on human operators, leading to fatigue, missed events, and scalability issues in large public spaces. Existing AI-based solutions often have high false positive rates, causing unnecessary alerts and reducing reliability. Conventional systems are also passive, reviewing CCTV footage post-incident rather than enabling real-time intervention. Additionally, many surveillance systems struggle with processing high-resolution video efficiently, causing delays in threat detection. This project aims to overcome these challenges by developing a real-time AI-powered crowd and violence detection system using YOLOv8, ensuring fast analysis, low false positives, and immediate alerts for enhanced public safety.</a:t>
            </a:r>
            <a:endParaRPr lang="en-IN" sz="1800" dirty="0"/>
          </a:p>
        </p:txBody>
      </p:sp>
    </p:spTree>
    <p:extLst>
      <p:ext uri="{BB962C8B-B14F-4D97-AF65-F5344CB8AC3E}">
        <p14:creationId xmlns:p14="http://schemas.microsoft.com/office/powerpoint/2010/main" val="805800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3"/>
          <p:cNvSpPr txBox="1">
            <a:spLocks noGrp="1"/>
          </p:cNvSpPr>
          <p:nvPr>
            <p:ph type="title"/>
          </p:nvPr>
        </p:nvSpPr>
        <p:spPr>
          <a:xfrm>
            <a:off x="686076" y="517043"/>
            <a:ext cx="10515600" cy="84793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4400" b="1">
                <a:latin typeface="Times New Roman"/>
                <a:ea typeface="Times New Roman"/>
                <a:cs typeface="Times New Roman"/>
                <a:sym typeface="Times New Roman"/>
              </a:rPr>
              <a:t>PROPOSED SYSTEM</a:t>
            </a:r>
            <a:endParaRPr sz="4400" b="1">
              <a:latin typeface="Times New Roman"/>
              <a:ea typeface="Times New Roman"/>
              <a:cs typeface="Times New Roman"/>
              <a:sym typeface="Times New Roman"/>
            </a:endParaRPr>
          </a:p>
        </p:txBody>
      </p:sp>
      <p:sp>
        <p:nvSpPr>
          <p:cNvPr id="173" name="Google Shape;173;p13"/>
          <p:cNvSpPr txBox="1">
            <a:spLocks noGrp="1"/>
          </p:cNvSpPr>
          <p:nvPr>
            <p:ph type="body" idx="1"/>
          </p:nvPr>
        </p:nvSpPr>
        <p:spPr>
          <a:xfrm>
            <a:off x="686076" y="1572044"/>
            <a:ext cx="10515600" cy="4899094"/>
          </a:xfrm>
          <a:prstGeom prst="rect">
            <a:avLst/>
          </a:prstGeom>
          <a:noFill/>
          <a:ln>
            <a:noFill/>
          </a:ln>
        </p:spPr>
        <p:txBody>
          <a:bodyPr spcFirstLastPara="1" wrap="square" lIns="91425" tIns="45700" rIns="91425" bIns="45700" anchor="t" anchorCtr="0">
            <a:normAutofit fontScale="92500" lnSpcReduction="20000"/>
          </a:bodyPr>
          <a:lstStyle/>
          <a:p>
            <a:pPr marL="342900" lvl="0" indent="-325627" algn="just" rtl="0">
              <a:lnSpc>
                <a:spcPct val="150000"/>
              </a:lnSpc>
              <a:spcBef>
                <a:spcPts val="1000"/>
              </a:spcBef>
              <a:spcAft>
                <a:spcPts val="0"/>
              </a:spcAft>
              <a:buClr>
                <a:schemeClr val="dk1"/>
              </a:buClr>
              <a:buSzPct val="100000"/>
              <a:buFont typeface="Times New Roman"/>
              <a:buChar char="•"/>
            </a:pPr>
            <a:r>
              <a:rPr lang="en-IN" sz="2300" dirty="0">
                <a:solidFill>
                  <a:schemeClr val="dk1"/>
                </a:solidFill>
                <a:latin typeface="Times New Roman"/>
                <a:ea typeface="Times New Roman"/>
                <a:cs typeface="Times New Roman"/>
                <a:sym typeface="Times New Roman"/>
              </a:rPr>
              <a:t>The system uses YOLOv8 for real-time detection of sudden increases in crowd density and violent activities.</a:t>
            </a:r>
            <a:endParaRPr sz="2300" dirty="0">
              <a:solidFill>
                <a:schemeClr val="dk1"/>
              </a:solidFill>
              <a:latin typeface="Times New Roman"/>
              <a:ea typeface="Times New Roman"/>
              <a:cs typeface="Times New Roman"/>
              <a:sym typeface="Times New Roman"/>
            </a:endParaRPr>
          </a:p>
          <a:p>
            <a:pPr marL="342900" lvl="0" indent="-325627" algn="just" rtl="0">
              <a:lnSpc>
                <a:spcPct val="150000"/>
              </a:lnSpc>
              <a:spcBef>
                <a:spcPts val="1000"/>
              </a:spcBef>
              <a:spcAft>
                <a:spcPts val="0"/>
              </a:spcAft>
              <a:buClr>
                <a:schemeClr val="dk1"/>
              </a:buClr>
              <a:buSzPct val="100000"/>
              <a:buFont typeface="Times New Roman"/>
              <a:buChar char="•"/>
            </a:pPr>
            <a:r>
              <a:rPr lang="en-IN" sz="2300" dirty="0">
                <a:solidFill>
                  <a:schemeClr val="dk1"/>
                </a:solidFill>
                <a:latin typeface="Times New Roman"/>
                <a:ea typeface="Times New Roman"/>
                <a:cs typeface="Times New Roman"/>
                <a:sym typeface="Times New Roman"/>
              </a:rPr>
              <a:t>It will be trained with a diverse dataset of images and videos to improve detection accuracy and adaptability.</a:t>
            </a:r>
            <a:endParaRPr sz="2300" dirty="0">
              <a:solidFill>
                <a:schemeClr val="dk1"/>
              </a:solidFill>
              <a:latin typeface="Times New Roman"/>
              <a:ea typeface="Times New Roman"/>
              <a:cs typeface="Times New Roman"/>
              <a:sym typeface="Times New Roman"/>
            </a:endParaRPr>
          </a:p>
          <a:p>
            <a:pPr marL="342900" lvl="0" indent="-325627" algn="just" rtl="0">
              <a:lnSpc>
                <a:spcPct val="150000"/>
              </a:lnSpc>
              <a:spcBef>
                <a:spcPts val="1000"/>
              </a:spcBef>
              <a:spcAft>
                <a:spcPts val="0"/>
              </a:spcAft>
              <a:buClr>
                <a:schemeClr val="dk1"/>
              </a:buClr>
              <a:buSzPct val="100000"/>
              <a:buFont typeface="Times New Roman"/>
              <a:buChar char="•"/>
            </a:pPr>
            <a:r>
              <a:rPr lang="en-IN" sz="2300" dirty="0">
                <a:solidFill>
                  <a:schemeClr val="dk1"/>
                </a:solidFill>
                <a:latin typeface="Times New Roman"/>
                <a:ea typeface="Times New Roman"/>
                <a:cs typeface="Times New Roman"/>
                <a:sym typeface="Times New Roman"/>
              </a:rPr>
              <a:t>Upon detecting an event, the system will trigger an alert sound and send email notifications to the relevant authorities.</a:t>
            </a:r>
            <a:endParaRPr sz="2300" dirty="0">
              <a:solidFill>
                <a:schemeClr val="dk1"/>
              </a:solidFill>
              <a:latin typeface="Times New Roman"/>
              <a:ea typeface="Times New Roman"/>
              <a:cs typeface="Times New Roman"/>
              <a:sym typeface="Times New Roman"/>
            </a:endParaRPr>
          </a:p>
          <a:p>
            <a:pPr marL="342900" lvl="0" indent="-325627" algn="just" rtl="0">
              <a:lnSpc>
                <a:spcPct val="150000"/>
              </a:lnSpc>
              <a:spcBef>
                <a:spcPts val="1000"/>
              </a:spcBef>
              <a:spcAft>
                <a:spcPts val="0"/>
              </a:spcAft>
              <a:buClr>
                <a:schemeClr val="dk1"/>
              </a:buClr>
              <a:buSzPct val="100000"/>
              <a:buFont typeface="Times New Roman"/>
              <a:buChar char="•"/>
            </a:pPr>
            <a:r>
              <a:rPr lang="en-IN" sz="2300" dirty="0">
                <a:solidFill>
                  <a:schemeClr val="dk1"/>
                </a:solidFill>
                <a:latin typeface="Times New Roman"/>
                <a:ea typeface="Times New Roman"/>
                <a:cs typeface="Times New Roman"/>
                <a:sym typeface="Times New Roman"/>
              </a:rPr>
              <a:t>A user-friendly interface will be developed to monitor, manage, and control alerts and notifications easily.</a:t>
            </a:r>
            <a:endParaRPr sz="2300" dirty="0">
              <a:solidFill>
                <a:schemeClr val="dk1"/>
              </a:solidFill>
              <a:latin typeface="Times New Roman"/>
              <a:ea typeface="Times New Roman"/>
              <a:cs typeface="Times New Roman"/>
              <a:sym typeface="Times New Roman"/>
            </a:endParaRPr>
          </a:p>
          <a:p>
            <a:pPr marL="342900" lvl="0" indent="-325627" algn="just" rtl="0">
              <a:lnSpc>
                <a:spcPct val="150000"/>
              </a:lnSpc>
              <a:spcBef>
                <a:spcPts val="1000"/>
              </a:spcBef>
              <a:spcAft>
                <a:spcPts val="0"/>
              </a:spcAft>
              <a:buClr>
                <a:schemeClr val="dk1"/>
              </a:buClr>
              <a:buSzPct val="100000"/>
              <a:buFont typeface="Times New Roman"/>
              <a:buChar char="•"/>
            </a:pPr>
            <a:r>
              <a:rPr lang="en-IN" sz="2300" dirty="0">
                <a:solidFill>
                  <a:schemeClr val="dk1"/>
                </a:solidFill>
                <a:latin typeface="Times New Roman"/>
                <a:ea typeface="Times New Roman"/>
                <a:cs typeface="Times New Roman"/>
                <a:sym typeface="Times New Roman"/>
              </a:rPr>
              <a:t>Continuous improvements will be made to the model by incorporating additional data and feedback to enhance its effectiveness.</a:t>
            </a:r>
            <a:endParaRPr sz="2300" dirty="0">
              <a:latin typeface="Times New Roman"/>
              <a:ea typeface="Times New Roman"/>
              <a:cs typeface="Times New Roman"/>
              <a:sym typeface="Times New Roman"/>
            </a:endParaRPr>
          </a:p>
        </p:txBody>
      </p:sp>
      <p:sp>
        <p:nvSpPr>
          <p:cNvPr id="174" name="Google Shape;17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0A48B2-2C80-4740-EAD7-BABDA15ADA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14</a:t>
            </a:fld>
            <a:endParaRPr lang="en-IN"/>
          </a:p>
        </p:txBody>
      </p:sp>
      <p:sp>
        <p:nvSpPr>
          <p:cNvPr id="4" name="TextBox 3">
            <a:extLst>
              <a:ext uri="{FF2B5EF4-FFF2-40B4-BE49-F238E27FC236}">
                <a16:creationId xmlns:a16="http://schemas.microsoft.com/office/drawing/2014/main" id="{6F4BD62A-638E-3B07-E9FC-6E9994297544}"/>
              </a:ext>
            </a:extLst>
          </p:cNvPr>
          <p:cNvSpPr txBox="1"/>
          <p:nvPr/>
        </p:nvSpPr>
        <p:spPr>
          <a:xfrm>
            <a:off x="245533" y="288496"/>
            <a:ext cx="9228667" cy="769441"/>
          </a:xfrm>
          <a:prstGeom prst="rect">
            <a:avLst/>
          </a:prstGeom>
          <a:noFill/>
        </p:spPr>
        <p:txBody>
          <a:bodyPr wrap="square">
            <a:spAutoFit/>
          </a:bodyPr>
          <a:lstStyle/>
          <a:p>
            <a:r>
              <a:rPr lang="en-US" sz="4400" b="1" dirty="0">
                <a:solidFill>
                  <a:schemeClr val="tx2">
                    <a:lumMod val="10000"/>
                  </a:schemeClr>
                </a:solidFill>
                <a:latin typeface="Times New Roman" panose="02020603050405020304" pitchFamily="18" charset="0"/>
                <a:cs typeface="Times New Roman" panose="02020603050405020304" pitchFamily="18" charset="0"/>
              </a:rPr>
              <a:t>Software / Hardware used</a:t>
            </a:r>
            <a:endParaRPr lang="en-IN" sz="4400" dirty="0">
              <a:solidFill>
                <a:schemeClr val="tx2">
                  <a:lumMod val="10000"/>
                </a:schemeClr>
              </a:solidFill>
            </a:endParaRPr>
          </a:p>
        </p:txBody>
      </p:sp>
      <p:sp>
        <p:nvSpPr>
          <p:cNvPr id="6" name="TextBox 5">
            <a:extLst>
              <a:ext uri="{FF2B5EF4-FFF2-40B4-BE49-F238E27FC236}">
                <a16:creationId xmlns:a16="http://schemas.microsoft.com/office/drawing/2014/main" id="{12CB2E8A-3DA7-57D0-0220-EBFF322542E0}"/>
              </a:ext>
            </a:extLst>
          </p:cNvPr>
          <p:cNvSpPr txBox="1"/>
          <p:nvPr/>
        </p:nvSpPr>
        <p:spPr>
          <a:xfrm>
            <a:off x="304801" y="1057938"/>
            <a:ext cx="10007600" cy="5084533"/>
          </a:xfrm>
          <a:prstGeom prst="rect">
            <a:avLst/>
          </a:prstGeom>
          <a:noFill/>
        </p:spPr>
        <p:txBody>
          <a:bodyPr wrap="square">
            <a:spAutoFit/>
          </a:bodyPr>
          <a:lstStyle/>
          <a:p>
            <a:pPr marL="179705" marR="35560" indent="368935" algn="l">
              <a:lnSpc>
                <a:spcPct val="107000"/>
              </a:lnSpc>
              <a:spcAft>
                <a:spcPts val="785"/>
              </a:spcAft>
              <a:buNone/>
            </a:pPr>
            <a:r>
              <a:rPr lang="en-IN" sz="2400"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rPr>
              <a:t>Hardware Requirements :</a:t>
            </a:r>
            <a:r>
              <a:rPr lang="en-IN" sz="2400" b="1" dirty="0">
                <a:solidFill>
                  <a:srgbClr val="000000"/>
                </a:solidFill>
                <a:effectLst/>
                <a:latin typeface="Times New Roman" panose="02020603050405020304" pitchFamily="18" charset="0"/>
                <a:ea typeface="Times New Roman" panose="02020603050405020304" pitchFamily="18" charset="0"/>
              </a:rPr>
              <a:t> </a:t>
            </a:r>
            <a:endParaRPr lang="en-IN" sz="2400" dirty="0">
              <a:solidFill>
                <a:srgbClr val="000000"/>
              </a:solidFill>
              <a:effectLst/>
              <a:latin typeface="Times New Roman" panose="02020603050405020304" pitchFamily="18" charset="0"/>
              <a:ea typeface="Times New Roman" panose="02020603050405020304" pitchFamily="18" charset="0"/>
            </a:endParaRPr>
          </a:p>
          <a:p>
            <a:pPr marL="342900" marR="151765" lvl="0" indent="-342900" algn="just" fontAlgn="base">
              <a:lnSpc>
                <a:spcPct val="107000"/>
              </a:lnSpc>
              <a:spcAft>
                <a:spcPts val="55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System Device         : Mobile or Computer </a:t>
            </a:r>
          </a:p>
          <a:p>
            <a:pPr marL="342900" marR="151765" lvl="0" indent="-342900" algn="just" fontAlgn="base">
              <a:lnSpc>
                <a:spcPct val="107000"/>
              </a:lnSpc>
              <a:spcAft>
                <a:spcPts val="55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Processor</a:t>
            </a:r>
            <a:r>
              <a:rPr lang="en-IN" sz="1800" dirty="0">
                <a:uFill>
                  <a:solidFill>
                    <a:srgbClr val="000000"/>
                  </a:solidFill>
                </a:uFill>
                <a:latin typeface="Arial" panose="020B0604020202020204" pitchFamily="34" charset="0"/>
                <a:ea typeface="Arial" panose="020B0604020202020204" pitchFamily="34" charset="0"/>
                <a:cs typeface="Arial" panose="020B0604020202020204" pitchFamily="34" charset="0"/>
              </a:rPr>
              <a:t>                 </a:t>
            </a: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Intel Core i7 / AMD </a:t>
            </a:r>
            <a:r>
              <a:rPr lang="en-IN" sz="1800"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Ryzen</a:t>
            </a: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or Higher</a:t>
            </a:r>
          </a:p>
          <a:p>
            <a:pPr marL="342900" marR="151765" lvl="0" indent="-342900" algn="just" fontAlgn="base">
              <a:lnSpc>
                <a:spcPct val="107000"/>
              </a:lnSpc>
              <a:spcAft>
                <a:spcPts val="555"/>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RAM    	          : 16GB or Higher (Both mobile and computer) </a:t>
            </a:r>
          </a:p>
          <a:p>
            <a:pPr marL="342900" marR="151765" lvl="0" indent="-342900" algn="just" fontAlgn="base">
              <a:lnSpc>
                <a:spcPct val="107000"/>
              </a:lnSpc>
              <a:spcAft>
                <a:spcPts val="535"/>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Computer Storage    : 512 GB SSD or Higher  </a:t>
            </a:r>
          </a:p>
          <a:p>
            <a:pPr marL="342900" marR="151765" lvl="0" indent="-342900" algn="just" fontAlgn="base">
              <a:lnSpc>
                <a:spcPct val="107000"/>
              </a:lnSpc>
              <a:spcAft>
                <a:spcPts val="56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Mobile Storage         :  64 GB or Higher </a:t>
            </a:r>
          </a:p>
          <a:p>
            <a:pPr marL="342900" marR="151765" lvl="0" indent="-342900" algn="just" fontAlgn="base">
              <a:lnSpc>
                <a:spcPct val="107000"/>
              </a:lnSpc>
              <a:spcAft>
                <a:spcPts val="1245"/>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Camera                    :  1080p Full HD and Minimum 30FPS</a:t>
            </a:r>
          </a:p>
          <a:p>
            <a:pPr marL="88265" marR="35560" indent="368935" algn="l">
              <a:lnSpc>
                <a:spcPct val="107000"/>
              </a:lnSpc>
              <a:spcAft>
                <a:spcPts val="785"/>
              </a:spcAft>
              <a:buNone/>
            </a:pPr>
            <a:r>
              <a:rPr lang="en-IN" sz="2400" b="1" u="sng" dirty="0">
                <a:solidFill>
                  <a:srgbClr val="000000"/>
                </a:solidFill>
                <a:effectLst/>
                <a:uFill>
                  <a:solidFill>
                    <a:srgbClr val="000000"/>
                  </a:solidFill>
                </a:uFill>
                <a:latin typeface="Times New Roman" panose="02020603050405020304" pitchFamily="18" charset="0"/>
                <a:ea typeface="Times New Roman" panose="02020603050405020304" pitchFamily="18" charset="0"/>
              </a:rPr>
              <a:t>Software Requirements :</a:t>
            </a:r>
            <a:r>
              <a:rPr lang="en-IN" sz="2400" b="1" dirty="0">
                <a:solidFill>
                  <a:srgbClr val="000000"/>
                </a:solidFill>
                <a:effectLst/>
                <a:latin typeface="Times New Roman" panose="02020603050405020304" pitchFamily="18" charset="0"/>
                <a:ea typeface="Times New Roman" panose="02020603050405020304" pitchFamily="18" charset="0"/>
              </a:rPr>
              <a:t> </a:t>
            </a:r>
            <a:endParaRPr lang="en-IN" sz="2400" dirty="0">
              <a:solidFill>
                <a:srgbClr val="000000"/>
              </a:solidFill>
              <a:effectLst/>
              <a:latin typeface="Times New Roman" panose="02020603050405020304" pitchFamily="18" charset="0"/>
              <a:ea typeface="Times New Roman" panose="02020603050405020304" pitchFamily="18" charset="0"/>
            </a:endParaRPr>
          </a:p>
          <a:p>
            <a:pPr marL="342900" marR="151765" lvl="0" indent="-342900" algn="just" fontAlgn="base">
              <a:lnSpc>
                <a:spcPct val="107000"/>
              </a:lnSpc>
              <a:spcAft>
                <a:spcPts val="585"/>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Mobile OS    	         : Android version 10 </a:t>
            </a:r>
          </a:p>
          <a:p>
            <a:pPr marL="342900" marR="151765" lvl="0" indent="-342900" algn="just" fontAlgn="base">
              <a:lnSpc>
                <a:spcPct val="107000"/>
              </a:lnSpc>
              <a:spcAft>
                <a:spcPts val="56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Computer OS          : Windows 10 or Higher</a:t>
            </a:r>
          </a:p>
          <a:p>
            <a:pPr marL="342900" marR="151765" lvl="0" indent="-342900" algn="just" fontAlgn="base">
              <a:lnSpc>
                <a:spcPct val="107000"/>
              </a:lnSpc>
              <a:spcAft>
                <a:spcPts val="56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Languages</a:t>
            </a:r>
            <a:r>
              <a:rPr lang="en-IN" sz="1800" dirty="0">
                <a:uFill>
                  <a:solidFill>
                    <a:srgbClr val="000000"/>
                  </a:solidFill>
                </a:uFill>
                <a:latin typeface="Arial" panose="020B0604020202020204" pitchFamily="34" charset="0"/>
                <a:ea typeface="Arial" panose="020B0604020202020204" pitchFamily="34" charset="0"/>
                <a:cs typeface="Arial" panose="020B0604020202020204" pitchFamily="34" charset="0"/>
              </a:rPr>
              <a:t>      </a:t>
            </a: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 Python 3.8+, Flask</a:t>
            </a:r>
          </a:p>
          <a:p>
            <a:pPr marL="342900" marR="151765" lvl="0" indent="-342900" algn="just" fontAlgn="base">
              <a:lnSpc>
                <a:spcPct val="107000"/>
              </a:lnSpc>
              <a:spcAft>
                <a:spcPts val="560"/>
              </a:spcAft>
              <a:buClr>
                <a:srgbClr val="000000"/>
              </a:buClr>
              <a:buSzPts val="1400"/>
              <a:buFont typeface="Arial" panose="020B0604020202020204" pitchFamily="34" charset="0"/>
              <a:buChar char="•"/>
            </a:pP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Libraries	        : Pandas, </a:t>
            </a:r>
            <a:r>
              <a:rPr lang="en-IN" sz="1800"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Numpy</a:t>
            </a: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TensorFlow or </a:t>
            </a:r>
            <a:r>
              <a:rPr lang="en-IN" sz="1800"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PyTorch</a:t>
            </a:r>
            <a:r>
              <a:rPr lang="en-IN"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 </a:t>
            </a:r>
            <a:r>
              <a:rPr lang="en-IN" sz="1800" u="none" strike="noStrike" dirty="0" err="1">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OpenCV,</a:t>
            </a:r>
            <a:r>
              <a:rPr lang="en-IN" sz="1800" dirty="0" err="1">
                <a:solidFill>
                  <a:srgbClr val="000000"/>
                </a:solidFill>
                <a:effectLst/>
                <a:latin typeface="Times New Roman" panose="02020603050405020304" pitchFamily="18" charset="0"/>
                <a:ea typeface="Times New Roman" panose="02020603050405020304" pitchFamily="18" charset="0"/>
              </a:rPr>
              <a:t>Matplotlib</a:t>
            </a:r>
            <a:r>
              <a:rPr lang="en-IN" sz="1800" dirty="0">
                <a:solidFill>
                  <a:srgbClr val="000000"/>
                </a:solidFill>
                <a:effectLst/>
                <a:latin typeface="Times New Roman" panose="02020603050405020304" pitchFamily="18" charset="0"/>
                <a:ea typeface="Times New Roman" panose="02020603050405020304" pitchFamily="18" charset="0"/>
              </a:rPr>
              <a:t> and                           .                                      </a:t>
            </a:r>
            <a:r>
              <a:rPr lang="en-IN" sz="1800" dirty="0">
                <a:latin typeface="Times New Roman" panose="02020603050405020304" pitchFamily="18" charset="0"/>
                <a:ea typeface="Times New Roman" panose="02020603050405020304" pitchFamily="18" charset="0"/>
              </a:rPr>
              <a:t>Seaborn.</a:t>
            </a:r>
            <a:endParaRPr lang="en-IN" sz="18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63625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EXISTING SYSTEM</a:t>
            </a:r>
            <a:endParaRPr b="1">
              <a:latin typeface="Times New Roman"/>
              <a:ea typeface="Times New Roman"/>
              <a:cs typeface="Times New Roman"/>
              <a:sym typeface="Times New Roman"/>
            </a:endParaRPr>
          </a:p>
        </p:txBody>
      </p:sp>
      <p:sp>
        <p:nvSpPr>
          <p:cNvPr id="159" name="Google Shape;159;p11"/>
          <p:cNvSpPr txBox="1">
            <a:spLocks noGrp="1"/>
          </p:cNvSpPr>
          <p:nvPr>
            <p:ph type="body" idx="1"/>
          </p:nvPr>
        </p:nvSpPr>
        <p:spPr>
          <a:xfrm>
            <a:off x="838200" y="1611875"/>
            <a:ext cx="10435500" cy="4565100"/>
          </a:xfrm>
          <a:prstGeom prst="rect">
            <a:avLst/>
          </a:prstGeom>
          <a:noFill/>
          <a:ln>
            <a:noFill/>
          </a:ln>
        </p:spPr>
        <p:txBody>
          <a:bodyPr spcFirstLastPara="1" wrap="square" lIns="91425" tIns="45700" rIns="91425" bIns="45700" anchor="t" anchorCtr="0">
            <a:normAutofit fontScale="92500" lnSpcReduction="20000"/>
          </a:bodyPr>
          <a:lstStyle/>
          <a:p>
            <a:pPr marL="228600" lvl="0" indent="-172973" algn="just" rtl="0">
              <a:lnSpc>
                <a:spcPct val="150000"/>
              </a:lnSpc>
              <a:spcBef>
                <a:spcPts val="1000"/>
              </a:spcBef>
              <a:spcAft>
                <a:spcPts val="0"/>
              </a:spcAft>
              <a:buClr>
                <a:schemeClr val="dk1"/>
              </a:buClr>
              <a:buSzPct val="100000"/>
              <a:buChar char="•"/>
            </a:pPr>
            <a:r>
              <a:rPr lang="en-IN" sz="2080" dirty="0">
                <a:latin typeface="Times New Roman"/>
                <a:ea typeface="Times New Roman"/>
                <a:cs typeface="Times New Roman"/>
                <a:sym typeface="Times New Roman"/>
              </a:rPr>
              <a:t>Manual Monitoring: Current systems require human monitoring of surveillance feeds, which is time-consuming, inefficient, and prone to human errors.</a:t>
            </a:r>
            <a:endParaRPr sz="2080" dirty="0">
              <a:latin typeface="Times New Roman"/>
              <a:ea typeface="Times New Roman"/>
              <a:cs typeface="Times New Roman"/>
              <a:sym typeface="Times New Roman"/>
            </a:endParaRPr>
          </a:p>
          <a:p>
            <a:pPr marL="228600" lvl="0" indent="-172973" algn="just" rtl="0">
              <a:lnSpc>
                <a:spcPct val="150000"/>
              </a:lnSpc>
              <a:spcBef>
                <a:spcPts val="1000"/>
              </a:spcBef>
              <a:spcAft>
                <a:spcPts val="0"/>
              </a:spcAft>
              <a:buClr>
                <a:schemeClr val="dk1"/>
              </a:buClr>
              <a:buSzPct val="100000"/>
              <a:buChar char="•"/>
            </a:pPr>
            <a:r>
              <a:rPr lang="en-IN" sz="2080" dirty="0">
                <a:latin typeface="Times New Roman"/>
                <a:ea typeface="Times New Roman"/>
                <a:cs typeface="Times New Roman"/>
                <a:sym typeface="Times New Roman"/>
              </a:rPr>
              <a:t>Limited Detection Capabilities: Existing automated systems may not accurately detect sudden crowd increases or violent activities, leading to potential security gaps.</a:t>
            </a:r>
            <a:endParaRPr sz="2080" dirty="0">
              <a:latin typeface="Times New Roman"/>
              <a:ea typeface="Times New Roman"/>
              <a:cs typeface="Times New Roman"/>
              <a:sym typeface="Times New Roman"/>
            </a:endParaRPr>
          </a:p>
          <a:p>
            <a:pPr marL="228600" lvl="0" indent="-172973" algn="just" rtl="0">
              <a:lnSpc>
                <a:spcPct val="150000"/>
              </a:lnSpc>
              <a:spcBef>
                <a:spcPts val="1000"/>
              </a:spcBef>
              <a:spcAft>
                <a:spcPts val="0"/>
              </a:spcAft>
              <a:buClr>
                <a:schemeClr val="dk1"/>
              </a:buClr>
              <a:buSzPct val="100000"/>
              <a:buChar char="•"/>
            </a:pPr>
            <a:r>
              <a:rPr lang="en-IN" sz="2080" dirty="0">
                <a:latin typeface="Times New Roman"/>
                <a:ea typeface="Times New Roman"/>
                <a:cs typeface="Times New Roman"/>
                <a:sym typeface="Times New Roman"/>
              </a:rPr>
              <a:t>Lack of Real-Time Alerts: Many existing systems do not provide real-time alerts, making it difficult to respond to incidents as they happen and delaying security intervention.</a:t>
            </a:r>
            <a:endParaRPr sz="2080" dirty="0">
              <a:latin typeface="Times New Roman"/>
              <a:ea typeface="Times New Roman"/>
              <a:cs typeface="Times New Roman"/>
              <a:sym typeface="Times New Roman"/>
            </a:endParaRPr>
          </a:p>
          <a:p>
            <a:pPr marL="228600" lvl="0" indent="-172973" algn="just" rtl="0">
              <a:lnSpc>
                <a:spcPct val="150000"/>
              </a:lnSpc>
              <a:spcBef>
                <a:spcPts val="1000"/>
              </a:spcBef>
              <a:spcAft>
                <a:spcPts val="0"/>
              </a:spcAft>
              <a:buClr>
                <a:schemeClr val="dk1"/>
              </a:buClr>
              <a:buSzPct val="100000"/>
              <a:buChar char="•"/>
            </a:pPr>
            <a:r>
              <a:rPr lang="en-IN" sz="2080" dirty="0">
                <a:latin typeface="Times New Roman"/>
                <a:ea typeface="Times New Roman"/>
                <a:cs typeface="Times New Roman"/>
                <a:sym typeface="Times New Roman"/>
              </a:rPr>
              <a:t>Low Integration with Machine Learning: Traditional systems do not effectively utilize advanced machine learning models, limiting the accuracy and adaptability of threat detection.</a:t>
            </a:r>
            <a:endParaRPr sz="2080" dirty="0">
              <a:latin typeface="Times New Roman"/>
              <a:ea typeface="Times New Roman"/>
              <a:cs typeface="Times New Roman"/>
              <a:sym typeface="Times New Roman"/>
            </a:endParaRPr>
          </a:p>
          <a:p>
            <a:pPr marL="228600" lvl="0" indent="-172973" algn="just" rtl="0">
              <a:lnSpc>
                <a:spcPct val="150000"/>
              </a:lnSpc>
              <a:spcBef>
                <a:spcPts val="1000"/>
              </a:spcBef>
              <a:spcAft>
                <a:spcPts val="0"/>
              </a:spcAft>
              <a:buClr>
                <a:schemeClr val="dk1"/>
              </a:buClr>
              <a:buSzPct val="100000"/>
              <a:buChar char="•"/>
            </a:pPr>
            <a:r>
              <a:rPr lang="en-IN" sz="2080" dirty="0">
                <a:latin typeface="Times New Roman"/>
                <a:ea typeface="Times New Roman"/>
                <a:cs typeface="Times New Roman"/>
                <a:sym typeface="Times New Roman"/>
              </a:rPr>
              <a:t>Reactive Approach: Current surveillance systems are often passive, meaning they only detect issues after they occur rather than providing proactive solutions for early intervention.</a:t>
            </a:r>
            <a:endParaRPr sz="2080" dirty="0">
              <a:latin typeface="Times New Roman"/>
              <a:ea typeface="Times New Roman"/>
              <a:cs typeface="Times New Roman"/>
              <a:sym typeface="Times New Roman"/>
            </a:endParaRPr>
          </a:p>
        </p:txBody>
      </p:sp>
      <p:sp>
        <p:nvSpPr>
          <p:cNvPr id="160" name="Google Shape;16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2"/>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ARCHITECTURE DIAGRAM</a:t>
            </a:r>
            <a:endParaRPr b="1">
              <a:latin typeface="Times New Roman"/>
              <a:ea typeface="Times New Roman"/>
              <a:cs typeface="Times New Roman"/>
              <a:sym typeface="Times New Roman"/>
            </a:endParaRPr>
          </a:p>
        </p:txBody>
      </p:sp>
      <p:sp>
        <p:nvSpPr>
          <p:cNvPr id="166" name="Google Shape;166;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16</a:t>
            </a:fld>
            <a:endParaRPr/>
          </a:p>
        </p:txBody>
      </p:sp>
      <p:pic>
        <p:nvPicPr>
          <p:cNvPr id="167" name="Google Shape;167;p12"/>
          <p:cNvPicPr preferRelativeResize="0"/>
          <p:nvPr/>
        </p:nvPicPr>
        <p:blipFill>
          <a:blip r:embed="rId3">
            <a:alphaModFix/>
          </a:blip>
          <a:stretch>
            <a:fillRect/>
          </a:stretch>
        </p:blipFill>
        <p:spPr>
          <a:xfrm>
            <a:off x="2562675" y="1384875"/>
            <a:ext cx="7276956" cy="5227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3800" b="1">
                <a:latin typeface="Times New Roman"/>
                <a:ea typeface="Times New Roman"/>
                <a:cs typeface="Times New Roman"/>
                <a:sym typeface="Times New Roman"/>
              </a:rPr>
              <a:t>Data Collection and Preprocessing Process (EDA)</a:t>
            </a:r>
            <a:endParaRPr sz="3800"/>
          </a:p>
        </p:txBody>
      </p:sp>
      <p:sp>
        <p:nvSpPr>
          <p:cNvPr id="180" name="Google Shape;180;p14"/>
          <p:cNvSpPr txBox="1">
            <a:spLocks noGrp="1"/>
          </p:cNvSpPr>
          <p:nvPr>
            <p:ph type="body" idx="1"/>
          </p:nvPr>
        </p:nvSpPr>
        <p:spPr>
          <a:xfrm>
            <a:off x="814750" y="1769326"/>
            <a:ext cx="10515600" cy="32013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1000"/>
              </a:spcBef>
              <a:spcAft>
                <a:spcPts val="0"/>
              </a:spcAft>
              <a:buClr>
                <a:schemeClr val="dk1"/>
              </a:buClr>
              <a:buSzPts val="2800"/>
              <a:buNone/>
            </a:pPr>
            <a:r>
              <a:rPr lang="en-IN" sz="2100">
                <a:latin typeface="Times New Roman"/>
                <a:ea typeface="Times New Roman"/>
                <a:cs typeface="Times New Roman"/>
                <a:sym typeface="Times New Roman"/>
              </a:rPr>
              <a:t>In this module, the goal is to source datasets relevant to the project from open-source platforms such as Kaggle and Roboflow. We will then perform extensive data cleaning by removing unnecessary rows, columns, or irrelevant data points to ensure that we have a refined and usable dataset. Following this, we will apply various preprocessing techniques, including normalizing data, handling missing values, and encoding categorical variables (if any). This prepares the data for further analysis and model training.</a:t>
            </a:r>
            <a:endParaRPr sz="2100">
              <a:latin typeface="Times New Roman"/>
              <a:ea typeface="Times New Roman"/>
              <a:cs typeface="Times New Roman"/>
              <a:sym typeface="Times New Roman"/>
            </a:endParaRPr>
          </a:p>
        </p:txBody>
      </p:sp>
      <p:sp>
        <p:nvSpPr>
          <p:cNvPr id="181" name="Google Shape;18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 Model Loading</a:t>
            </a:r>
            <a:endParaRPr b="1">
              <a:latin typeface="Times New Roman"/>
              <a:ea typeface="Times New Roman"/>
              <a:cs typeface="Times New Roman"/>
              <a:sym typeface="Times New Roman"/>
            </a:endParaRPr>
          </a:p>
        </p:txBody>
      </p:sp>
      <p:sp>
        <p:nvSpPr>
          <p:cNvPr id="187" name="Google Shape;18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1000"/>
              </a:spcBef>
              <a:spcAft>
                <a:spcPts val="0"/>
              </a:spcAft>
              <a:buClr>
                <a:schemeClr val="dk1"/>
              </a:buClr>
              <a:buSzPts val="2800"/>
              <a:buNone/>
            </a:pPr>
            <a:r>
              <a:rPr lang="en-IN" sz="2100">
                <a:latin typeface="Times New Roman"/>
                <a:ea typeface="Times New Roman"/>
                <a:cs typeface="Times New Roman"/>
                <a:sym typeface="Times New Roman"/>
              </a:rPr>
              <a:t>In this module, we will train the model using the cleaned and preprocessed dataset. This involves selecting appropriate algorithms and training the model to make accurate predictions. The model will be built using YOLOv8 or any other suitable algorithm for real-time crowd and violence detection. After training, we will evaluate the model’s performance using different metrics (such as precision, recall, and accuracy) to ensure it works well for the intended use case.</a:t>
            </a:r>
            <a:endParaRPr sz="2100">
              <a:latin typeface="Times New Roman"/>
              <a:ea typeface="Times New Roman"/>
              <a:cs typeface="Times New Roman"/>
              <a:sym typeface="Times New Roman"/>
            </a:endParaRPr>
          </a:p>
        </p:txBody>
      </p:sp>
      <p:sp>
        <p:nvSpPr>
          <p:cNvPr id="188" name="Google Shape;18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Backend and Streamlit Web App</a:t>
            </a:r>
            <a:endParaRPr b="1">
              <a:latin typeface="Times New Roman"/>
              <a:ea typeface="Times New Roman"/>
              <a:cs typeface="Times New Roman"/>
              <a:sym typeface="Times New Roman"/>
            </a:endParaRPr>
          </a:p>
        </p:txBody>
      </p:sp>
      <p:sp>
        <p:nvSpPr>
          <p:cNvPr id="194" name="Google Shape;194;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1000"/>
              </a:spcBef>
              <a:spcAft>
                <a:spcPts val="0"/>
              </a:spcAft>
              <a:buSzPts val="1800"/>
              <a:buNone/>
            </a:pPr>
            <a:r>
              <a:rPr lang="en-IN" sz="2200">
                <a:latin typeface="Times New Roman"/>
                <a:ea typeface="Times New Roman"/>
                <a:cs typeface="Times New Roman"/>
                <a:sym typeface="Times New Roman"/>
              </a:rPr>
              <a:t>This module will focus on integrating the trained model with the backend and developing the frontend using Streamlit, a simple and fast framework for building web apps. The backend will handle the model’s predictions, while the frontend will allow users to input data, interact with the system, and view predictions in real-time. The web app will provide a user-friendly interface to manage alerts, visualize the analysis, and make the system accessible to end-users such as security personnel or administrators.</a:t>
            </a:r>
            <a:endParaRPr sz="2200">
              <a:latin typeface="Times New Roman"/>
              <a:ea typeface="Times New Roman"/>
              <a:cs typeface="Times New Roman"/>
              <a:sym typeface="Times New Roman"/>
            </a:endParaRPr>
          </a:p>
        </p:txBody>
      </p:sp>
      <p:sp>
        <p:nvSpPr>
          <p:cNvPr id="195" name="Google Shape;19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DFD-0</a:t>
            </a:r>
            <a:endParaRPr/>
          </a:p>
        </p:txBody>
      </p:sp>
      <p:sp>
        <p:nvSpPr>
          <p:cNvPr id="201" name="Google Shape;20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20</a:t>
            </a:fld>
            <a:endParaRPr/>
          </a:p>
        </p:txBody>
      </p:sp>
      <p:pic>
        <p:nvPicPr>
          <p:cNvPr id="202" name="Google Shape;202;p18"/>
          <p:cNvPicPr preferRelativeResize="0"/>
          <p:nvPr/>
        </p:nvPicPr>
        <p:blipFill rotWithShape="1">
          <a:blip r:embed="rId3">
            <a:alphaModFix/>
          </a:blip>
          <a:srcRect/>
          <a:stretch/>
        </p:blipFill>
        <p:spPr>
          <a:xfrm>
            <a:off x="899350" y="1825600"/>
            <a:ext cx="10776849" cy="3652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DFD-1 (Data Collection and Preprocessing Process (EDA))</a:t>
            </a:r>
            <a:endParaRPr b="1">
              <a:latin typeface="Times New Roman"/>
              <a:ea typeface="Times New Roman"/>
              <a:cs typeface="Times New Roman"/>
              <a:sym typeface="Times New Roman"/>
            </a:endParaRPr>
          </a:p>
        </p:txBody>
      </p:sp>
      <p:sp>
        <p:nvSpPr>
          <p:cNvPr id="208" name="Google Shape;20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21</a:t>
            </a:fld>
            <a:endParaRPr/>
          </a:p>
        </p:txBody>
      </p:sp>
      <p:pic>
        <p:nvPicPr>
          <p:cNvPr id="209" name="Google Shape;209;p19"/>
          <p:cNvPicPr preferRelativeResize="0"/>
          <p:nvPr/>
        </p:nvPicPr>
        <p:blipFill rotWithShape="1">
          <a:blip r:embed="rId3">
            <a:alphaModFix/>
          </a:blip>
          <a:srcRect/>
          <a:stretch/>
        </p:blipFill>
        <p:spPr>
          <a:xfrm>
            <a:off x="257375" y="2342575"/>
            <a:ext cx="11887203" cy="227783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DFD-2 (Model Loading)</a:t>
            </a:r>
            <a:endParaRPr b="1">
              <a:latin typeface="Times New Roman"/>
              <a:ea typeface="Times New Roman"/>
              <a:cs typeface="Times New Roman"/>
              <a:sym typeface="Times New Roman"/>
            </a:endParaRPr>
          </a:p>
        </p:txBody>
      </p:sp>
      <p:sp>
        <p:nvSpPr>
          <p:cNvPr id="215" name="Google Shape;215;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22</a:t>
            </a:fld>
            <a:endParaRPr/>
          </a:p>
        </p:txBody>
      </p:sp>
      <p:pic>
        <p:nvPicPr>
          <p:cNvPr id="216" name="Google Shape;216;p20"/>
          <p:cNvPicPr preferRelativeResize="0"/>
          <p:nvPr/>
        </p:nvPicPr>
        <p:blipFill rotWithShape="1">
          <a:blip r:embed="rId3">
            <a:alphaModFix/>
          </a:blip>
          <a:srcRect/>
          <a:stretch/>
        </p:blipFill>
        <p:spPr>
          <a:xfrm>
            <a:off x="2225550" y="2166926"/>
            <a:ext cx="7486650" cy="2524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DFD-3 (Backend and Streamlit Web App)</a:t>
            </a:r>
            <a:endParaRPr b="1">
              <a:latin typeface="Times New Roman"/>
              <a:ea typeface="Times New Roman"/>
              <a:cs typeface="Times New Roman"/>
              <a:sym typeface="Times New Roman"/>
            </a:endParaRPr>
          </a:p>
        </p:txBody>
      </p:sp>
      <p:sp>
        <p:nvSpPr>
          <p:cNvPr id="222" name="Google Shape;22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23</a:t>
            </a:fld>
            <a:endParaRPr/>
          </a:p>
        </p:txBody>
      </p:sp>
      <p:pic>
        <p:nvPicPr>
          <p:cNvPr id="223" name="Google Shape;223;p21"/>
          <p:cNvPicPr preferRelativeResize="0"/>
          <p:nvPr/>
        </p:nvPicPr>
        <p:blipFill rotWithShape="1">
          <a:blip r:embed="rId3">
            <a:alphaModFix/>
          </a:blip>
          <a:srcRect/>
          <a:stretch/>
        </p:blipFill>
        <p:spPr>
          <a:xfrm>
            <a:off x="838188" y="2070513"/>
            <a:ext cx="9915525" cy="2524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9DD8C6-6710-9BD7-5DE4-3AC8E1D3C0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24</a:t>
            </a:fld>
            <a:endParaRPr lang="en-IN"/>
          </a:p>
        </p:txBody>
      </p:sp>
      <p:sp>
        <p:nvSpPr>
          <p:cNvPr id="4" name="TextBox 3">
            <a:extLst>
              <a:ext uri="{FF2B5EF4-FFF2-40B4-BE49-F238E27FC236}">
                <a16:creationId xmlns:a16="http://schemas.microsoft.com/office/drawing/2014/main" id="{33901D2D-EE10-6E88-FE6B-C6F9B4523395}"/>
              </a:ext>
            </a:extLst>
          </p:cNvPr>
          <p:cNvSpPr txBox="1"/>
          <p:nvPr/>
        </p:nvSpPr>
        <p:spPr>
          <a:xfrm>
            <a:off x="279400" y="213212"/>
            <a:ext cx="8864600" cy="769441"/>
          </a:xfrm>
          <a:prstGeom prst="rect">
            <a:avLst/>
          </a:prstGeom>
          <a:noFill/>
        </p:spPr>
        <p:txBody>
          <a:bodyPr wrap="square">
            <a:spAutoFit/>
          </a:bodyPr>
          <a:lstStyle/>
          <a:p>
            <a:r>
              <a:rPr lang="en-US" sz="44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4400" dirty="0">
              <a:solidFill>
                <a:schemeClr val="tx1">
                  <a:lumMod val="95000"/>
                  <a:lumOff val="5000"/>
                </a:schemeClr>
              </a:solidFill>
            </a:endParaRPr>
          </a:p>
        </p:txBody>
      </p:sp>
      <p:sp>
        <p:nvSpPr>
          <p:cNvPr id="8" name="TextBox 7">
            <a:extLst>
              <a:ext uri="{FF2B5EF4-FFF2-40B4-BE49-F238E27FC236}">
                <a16:creationId xmlns:a16="http://schemas.microsoft.com/office/drawing/2014/main" id="{32968630-888A-B25A-9034-0C54E4F31412}"/>
              </a:ext>
            </a:extLst>
          </p:cNvPr>
          <p:cNvSpPr txBox="1"/>
          <p:nvPr/>
        </p:nvSpPr>
        <p:spPr>
          <a:xfrm>
            <a:off x="550333" y="1083066"/>
            <a:ext cx="9431867" cy="2586436"/>
          </a:xfrm>
          <a:prstGeom prst="rect">
            <a:avLst/>
          </a:prstGeom>
          <a:noFill/>
        </p:spPr>
        <p:txBody>
          <a:bodyPr wrap="square">
            <a:spAutoFit/>
          </a:bodyPr>
          <a:lstStyle/>
          <a:p>
            <a:pPr algn="just">
              <a:buNone/>
            </a:pPr>
            <a:r>
              <a:rPr lang="en-US" sz="2000" b="1" i="0" dirty="0">
                <a:solidFill>
                  <a:schemeClr val="tx1">
                    <a:lumMod val="95000"/>
                    <a:lumOff val="5000"/>
                  </a:schemeClr>
                </a:solidFill>
                <a:effectLst/>
                <a:latin typeface="DeepSeek-CJK-patch"/>
              </a:rPr>
              <a:t>1. Data Collection and Preprocessing (EDA)</a:t>
            </a:r>
          </a:p>
          <a:p>
            <a:pPr algn="just">
              <a:buFont typeface="Arial" panose="020B0604020202020204" pitchFamily="34" charset="0"/>
              <a:buChar char="•"/>
            </a:pPr>
            <a:r>
              <a:rPr lang="en-US" sz="1800" b="1" i="0" dirty="0">
                <a:solidFill>
                  <a:schemeClr val="tx1">
                    <a:lumMod val="95000"/>
                    <a:lumOff val="5000"/>
                  </a:schemeClr>
                </a:solidFill>
                <a:effectLst/>
                <a:latin typeface="DeepSeek-CJK-patch"/>
              </a:rPr>
              <a:t>Objective</a:t>
            </a:r>
            <a:r>
              <a:rPr lang="en-US" sz="1800" b="0" i="0" dirty="0">
                <a:solidFill>
                  <a:schemeClr val="tx1">
                    <a:lumMod val="95000"/>
                    <a:lumOff val="5000"/>
                  </a:schemeClr>
                </a:solidFill>
                <a:effectLst/>
                <a:latin typeface="DeepSeek-CJK-patch"/>
              </a:rPr>
              <a:t>: Gather and prepare high-quality datasets for training the YOLOv8 model.</a:t>
            </a:r>
          </a:p>
          <a:p>
            <a:pPr algn="just">
              <a:spcBef>
                <a:spcPts val="300"/>
              </a:spcBef>
              <a:spcAft>
                <a:spcPts val="300"/>
              </a:spcAft>
              <a:buFont typeface="Arial" panose="020B0604020202020204" pitchFamily="34" charset="0"/>
              <a:buChar char="•"/>
            </a:pPr>
            <a:r>
              <a:rPr lang="en-US" sz="1800" b="1" i="0" dirty="0">
                <a:solidFill>
                  <a:schemeClr val="tx1">
                    <a:lumMod val="95000"/>
                    <a:lumOff val="5000"/>
                  </a:schemeClr>
                </a:solidFill>
                <a:effectLst/>
                <a:latin typeface="DeepSeek-CJK-patch"/>
              </a:rPr>
              <a:t>Key Tasks</a:t>
            </a:r>
            <a:r>
              <a:rPr lang="en-US" sz="1800" b="0" i="0" dirty="0">
                <a:solidFill>
                  <a:schemeClr val="tx1">
                    <a:lumMod val="95000"/>
                    <a:lumOff val="5000"/>
                  </a:schemeClr>
                </a:solidFill>
                <a:effectLst/>
                <a:latin typeface="DeepSeek-CJK-patch"/>
              </a:rPr>
              <a:t>:</a:t>
            </a:r>
          </a:p>
          <a:p>
            <a:pPr marL="742950" lvl="1" indent="-285750" algn="just">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Source datasets from open-source platforms like Kaggle and </a:t>
            </a:r>
            <a:r>
              <a:rPr lang="en-US" sz="1800" b="0" i="0" dirty="0" err="1">
                <a:solidFill>
                  <a:schemeClr val="tx1">
                    <a:lumMod val="95000"/>
                    <a:lumOff val="5000"/>
                  </a:schemeClr>
                </a:solidFill>
                <a:effectLst/>
                <a:latin typeface="DeepSeek-CJK-patch"/>
              </a:rPr>
              <a:t>Roboflow</a:t>
            </a:r>
            <a:r>
              <a:rPr lang="en-US" sz="1800" b="0" i="0" dirty="0">
                <a:solidFill>
                  <a:schemeClr val="tx1">
                    <a:lumMod val="95000"/>
                    <a:lumOff val="5000"/>
                  </a:schemeClr>
                </a:solidFill>
                <a:effectLst/>
                <a:latin typeface="DeepSeek-CJK-patch"/>
              </a:rPr>
              <a:t>.</a:t>
            </a:r>
          </a:p>
          <a:p>
            <a:pPr marL="742950" lvl="1" indent="-285750" algn="just">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Perform data cleaning (remove irrelevant rows/columns, handle missing values).</a:t>
            </a:r>
          </a:p>
          <a:p>
            <a:pPr marL="742950" lvl="1" indent="-285750" algn="just">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Apply preprocessing techniques: normalization, resizing images/videos, and encoding (if needed).</a:t>
            </a:r>
          </a:p>
          <a:p>
            <a:pPr algn="just">
              <a:spcBef>
                <a:spcPts val="300"/>
              </a:spcBef>
              <a:buFont typeface="Arial" panose="020B0604020202020204" pitchFamily="34" charset="0"/>
              <a:buChar char="•"/>
            </a:pPr>
            <a:r>
              <a:rPr lang="en-US" sz="1800" b="1" i="0" dirty="0">
                <a:solidFill>
                  <a:schemeClr val="tx1">
                    <a:lumMod val="95000"/>
                    <a:lumOff val="5000"/>
                  </a:schemeClr>
                </a:solidFill>
                <a:effectLst/>
                <a:latin typeface="DeepSeek-CJK-patch"/>
              </a:rPr>
              <a:t>Output</a:t>
            </a:r>
            <a:r>
              <a:rPr lang="en-US" sz="1800" b="0" i="0" dirty="0">
                <a:solidFill>
                  <a:schemeClr val="tx1">
                    <a:lumMod val="95000"/>
                    <a:lumOff val="5000"/>
                  </a:schemeClr>
                </a:solidFill>
                <a:effectLst/>
                <a:latin typeface="DeepSeek-CJK-patch"/>
              </a:rPr>
              <a:t>: Cleaned and annotated dataset ready for model training.</a:t>
            </a:r>
          </a:p>
        </p:txBody>
      </p:sp>
      <p:sp>
        <p:nvSpPr>
          <p:cNvPr id="10" name="TextBox 9">
            <a:extLst>
              <a:ext uri="{FF2B5EF4-FFF2-40B4-BE49-F238E27FC236}">
                <a16:creationId xmlns:a16="http://schemas.microsoft.com/office/drawing/2014/main" id="{422C5DC7-D760-364D-5D2A-47AE237E073D}"/>
              </a:ext>
            </a:extLst>
          </p:cNvPr>
          <p:cNvSpPr txBox="1"/>
          <p:nvPr/>
        </p:nvSpPr>
        <p:spPr>
          <a:xfrm>
            <a:off x="550333" y="3769915"/>
            <a:ext cx="8779933" cy="2885405"/>
          </a:xfrm>
          <a:prstGeom prst="rect">
            <a:avLst/>
          </a:prstGeom>
          <a:noFill/>
        </p:spPr>
        <p:txBody>
          <a:bodyPr wrap="square">
            <a:spAutoFit/>
          </a:bodyPr>
          <a:lstStyle/>
          <a:p>
            <a:pPr algn="just">
              <a:buNone/>
            </a:pPr>
            <a:r>
              <a:rPr lang="en-IN" sz="2000" b="1" i="0" dirty="0">
                <a:solidFill>
                  <a:schemeClr val="tx1">
                    <a:lumMod val="95000"/>
                    <a:lumOff val="5000"/>
                  </a:schemeClr>
                </a:solidFill>
                <a:effectLst/>
                <a:latin typeface="DeepSeek-CJK-patch"/>
              </a:rPr>
              <a:t>2. Model Training (YOLOv8 Integration)</a:t>
            </a:r>
          </a:p>
          <a:p>
            <a:pPr algn="just">
              <a:buFont typeface="Arial" panose="020B0604020202020204" pitchFamily="34" charset="0"/>
              <a:buChar char="•"/>
            </a:pPr>
            <a:r>
              <a:rPr lang="en-IN" sz="1800" b="1" i="0" dirty="0">
                <a:solidFill>
                  <a:schemeClr val="tx1">
                    <a:lumMod val="95000"/>
                    <a:lumOff val="5000"/>
                  </a:schemeClr>
                </a:solidFill>
                <a:effectLst/>
                <a:latin typeface="DeepSeek-CJK-patch"/>
              </a:rPr>
              <a:t>Objective</a:t>
            </a:r>
            <a:r>
              <a:rPr lang="en-IN" sz="1800" b="0" i="0" dirty="0">
                <a:solidFill>
                  <a:schemeClr val="tx1">
                    <a:lumMod val="95000"/>
                    <a:lumOff val="5000"/>
                  </a:schemeClr>
                </a:solidFill>
                <a:effectLst/>
                <a:latin typeface="DeepSeek-CJK-patch"/>
              </a:rPr>
              <a:t>: Train a robust object detection model to identify crowd density changes and violent activities.</a:t>
            </a:r>
          </a:p>
          <a:p>
            <a:pPr algn="just">
              <a:spcBef>
                <a:spcPts val="300"/>
              </a:spcBef>
              <a:spcAft>
                <a:spcPts val="300"/>
              </a:spcAft>
              <a:buFont typeface="Arial" panose="020B0604020202020204" pitchFamily="34" charset="0"/>
              <a:buChar char="•"/>
            </a:pPr>
            <a:r>
              <a:rPr lang="en-IN" sz="1800" b="1" i="0" dirty="0">
                <a:solidFill>
                  <a:schemeClr val="tx1">
                    <a:lumMod val="95000"/>
                    <a:lumOff val="5000"/>
                  </a:schemeClr>
                </a:solidFill>
                <a:effectLst/>
                <a:latin typeface="DeepSeek-CJK-patch"/>
              </a:rPr>
              <a:t>Key Tasks</a:t>
            </a:r>
            <a:r>
              <a:rPr lang="en-IN" sz="1800" b="0" i="0" dirty="0">
                <a:solidFill>
                  <a:schemeClr val="tx1">
                    <a:lumMod val="95000"/>
                    <a:lumOff val="5000"/>
                  </a:schemeClr>
                </a:solidFill>
                <a:effectLst/>
                <a:latin typeface="DeepSeek-CJK-patch"/>
              </a:rPr>
              <a:t>:</a:t>
            </a:r>
          </a:p>
          <a:p>
            <a:pPr marL="742950" lvl="1" indent="-285750" algn="just">
              <a:spcBef>
                <a:spcPts val="300"/>
              </a:spcBef>
              <a:buFont typeface="Arial" panose="020B0604020202020204" pitchFamily="34" charset="0"/>
              <a:buChar char="•"/>
            </a:pPr>
            <a:r>
              <a:rPr lang="en-IN" sz="1800" b="0" i="0" dirty="0">
                <a:solidFill>
                  <a:schemeClr val="tx1">
                    <a:lumMod val="95000"/>
                    <a:lumOff val="5000"/>
                  </a:schemeClr>
                </a:solidFill>
                <a:effectLst/>
                <a:latin typeface="DeepSeek-CJK-patch"/>
              </a:rPr>
              <a:t>Implement YOLOv8 algorithm for real-time detection.</a:t>
            </a:r>
          </a:p>
          <a:p>
            <a:pPr marL="742950" lvl="1" indent="-285750" algn="just">
              <a:spcBef>
                <a:spcPts val="300"/>
              </a:spcBef>
              <a:buFont typeface="Arial" panose="020B0604020202020204" pitchFamily="34" charset="0"/>
              <a:buChar char="•"/>
            </a:pPr>
            <a:r>
              <a:rPr lang="en-IN" sz="1800" b="0" i="0" dirty="0">
                <a:solidFill>
                  <a:schemeClr val="tx1">
                    <a:lumMod val="95000"/>
                    <a:lumOff val="5000"/>
                  </a:schemeClr>
                </a:solidFill>
                <a:effectLst/>
                <a:latin typeface="DeepSeek-CJK-patch"/>
              </a:rPr>
              <a:t>Train the model using the </a:t>
            </a:r>
            <a:r>
              <a:rPr lang="en-IN" sz="1800" b="0" i="0" dirty="0" err="1">
                <a:solidFill>
                  <a:schemeClr val="tx1">
                    <a:lumMod val="95000"/>
                    <a:lumOff val="5000"/>
                  </a:schemeClr>
                </a:solidFill>
                <a:effectLst/>
                <a:latin typeface="DeepSeek-CJK-patch"/>
              </a:rPr>
              <a:t>preprocessed</a:t>
            </a:r>
            <a:r>
              <a:rPr lang="en-IN" sz="1800" b="0" i="0" dirty="0">
                <a:solidFill>
                  <a:schemeClr val="tx1">
                    <a:lumMod val="95000"/>
                    <a:lumOff val="5000"/>
                  </a:schemeClr>
                </a:solidFill>
                <a:effectLst/>
                <a:latin typeface="DeepSeek-CJK-patch"/>
              </a:rPr>
              <a:t> dataset.</a:t>
            </a:r>
          </a:p>
          <a:p>
            <a:pPr marL="742950" lvl="1" indent="-285750" algn="just">
              <a:spcBef>
                <a:spcPts val="300"/>
              </a:spcBef>
              <a:buFont typeface="Arial" panose="020B0604020202020204" pitchFamily="34" charset="0"/>
              <a:buChar char="•"/>
            </a:pPr>
            <a:r>
              <a:rPr lang="en-IN" sz="1800" b="0" i="0" dirty="0">
                <a:solidFill>
                  <a:schemeClr val="tx1">
                    <a:lumMod val="95000"/>
                    <a:lumOff val="5000"/>
                  </a:schemeClr>
                </a:solidFill>
                <a:effectLst/>
                <a:latin typeface="DeepSeek-CJK-patch"/>
              </a:rPr>
              <a:t>Optimize hyperparameters for accuracy and speed.</a:t>
            </a:r>
          </a:p>
          <a:p>
            <a:pPr marL="742950" lvl="1" indent="-285750" algn="just">
              <a:spcBef>
                <a:spcPts val="300"/>
              </a:spcBef>
              <a:buFont typeface="Arial" panose="020B0604020202020204" pitchFamily="34" charset="0"/>
              <a:buChar char="•"/>
            </a:pPr>
            <a:r>
              <a:rPr lang="en-IN" sz="1800" b="0" i="0" dirty="0">
                <a:solidFill>
                  <a:schemeClr val="tx1">
                    <a:lumMod val="95000"/>
                    <a:lumOff val="5000"/>
                  </a:schemeClr>
                </a:solidFill>
                <a:effectLst/>
                <a:latin typeface="DeepSeek-CJK-patch"/>
              </a:rPr>
              <a:t>Evaluate performance metrics (precision, recall, F1-score).</a:t>
            </a:r>
          </a:p>
          <a:p>
            <a:pPr algn="just">
              <a:spcBef>
                <a:spcPts val="300"/>
              </a:spcBef>
              <a:buFont typeface="Arial" panose="020B0604020202020204" pitchFamily="34" charset="0"/>
              <a:buChar char="•"/>
            </a:pPr>
            <a:r>
              <a:rPr lang="en-IN" sz="1800" b="1" i="0" dirty="0">
                <a:solidFill>
                  <a:schemeClr val="tx1">
                    <a:lumMod val="95000"/>
                    <a:lumOff val="5000"/>
                  </a:schemeClr>
                </a:solidFill>
                <a:effectLst/>
                <a:latin typeface="DeepSeek-CJK-patch"/>
              </a:rPr>
              <a:t>Output</a:t>
            </a:r>
            <a:r>
              <a:rPr lang="en-IN" sz="1800" b="0" i="0" dirty="0">
                <a:solidFill>
                  <a:schemeClr val="tx1">
                    <a:lumMod val="95000"/>
                    <a:lumOff val="5000"/>
                  </a:schemeClr>
                </a:solidFill>
                <a:effectLst/>
                <a:latin typeface="DeepSeek-CJK-patch"/>
              </a:rPr>
              <a:t>: Trained YOLOv8 model with high detection accuracy.</a:t>
            </a:r>
          </a:p>
        </p:txBody>
      </p:sp>
    </p:spTree>
    <p:extLst>
      <p:ext uri="{BB962C8B-B14F-4D97-AF65-F5344CB8AC3E}">
        <p14:creationId xmlns:p14="http://schemas.microsoft.com/office/powerpoint/2010/main" val="2710349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AAE86D-5ECE-DC90-E7F0-4ED508FED0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25</a:t>
            </a:fld>
            <a:endParaRPr lang="en-IN"/>
          </a:p>
        </p:txBody>
      </p:sp>
      <p:sp>
        <p:nvSpPr>
          <p:cNvPr id="4" name="TextBox 3">
            <a:extLst>
              <a:ext uri="{FF2B5EF4-FFF2-40B4-BE49-F238E27FC236}">
                <a16:creationId xmlns:a16="http://schemas.microsoft.com/office/drawing/2014/main" id="{80C21702-6B42-3CB2-CF3F-F96DD2A0C79B}"/>
              </a:ext>
            </a:extLst>
          </p:cNvPr>
          <p:cNvSpPr txBox="1"/>
          <p:nvPr/>
        </p:nvSpPr>
        <p:spPr>
          <a:xfrm>
            <a:off x="381000" y="1222692"/>
            <a:ext cx="12124267" cy="4839786"/>
          </a:xfrm>
          <a:prstGeom prst="rect">
            <a:avLst/>
          </a:prstGeom>
          <a:noFill/>
        </p:spPr>
        <p:txBody>
          <a:bodyPr wrap="square">
            <a:spAutoFit/>
          </a:bodyPr>
          <a:lstStyle/>
          <a:p>
            <a:pPr algn="l">
              <a:buNone/>
            </a:pPr>
            <a:r>
              <a:rPr lang="en-US" sz="2000" b="1" i="0" dirty="0">
                <a:solidFill>
                  <a:schemeClr val="tx1">
                    <a:lumMod val="95000"/>
                    <a:lumOff val="5000"/>
                  </a:schemeClr>
                </a:solidFill>
                <a:effectLst/>
                <a:latin typeface="DeepSeek-CJK-patch"/>
              </a:rPr>
              <a:t>3. Real-Time Detection and Alert System</a:t>
            </a:r>
          </a:p>
          <a:p>
            <a:pPr algn="l">
              <a:buFont typeface="Arial" panose="020B0604020202020204" pitchFamily="34" charset="0"/>
              <a:buChar char="•"/>
            </a:pPr>
            <a:r>
              <a:rPr lang="en-US" sz="1800" b="1" i="0" dirty="0">
                <a:solidFill>
                  <a:schemeClr val="tx1">
                    <a:lumMod val="95000"/>
                    <a:lumOff val="5000"/>
                  </a:schemeClr>
                </a:solidFill>
                <a:effectLst/>
                <a:latin typeface="DeepSeek-CJK-patch"/>
              </a:rPr>
              <a:t>Objective</a:t>
            </a:r>
            <a:r>
              <a:rPr lang="en-US" sz="1800" b="0" i="0" dirty="0">
                <a:solidFill>
                  <a:schemeClr val="tx1">
                    <a:lumMod val="95000"/>
                    <a:lumOff val="5000"/>
                  </a:schemeClr>
                </a:solidFill>
                <a:effectLst/>
                <a:latin typeface="DeepSeek-CJK-patch"/>
              </a:rPr>
              <a:t>: Monitor live video feeds and trigger alerts for anomalies.</a:t>
            </a:r>
          </a:p>
          <a:p>
            <a:pPr algn="l">
              <a:spcBef>
                <a:spcPts val="300"/>
              </a:spcBef>
              <a:spcAft>
                <a:spcPts val="300"/>
              </a:spcAft>
              <a:buFont typeface="Arial" panose="020B0604020202020204" pitchFamily="34" charset="0"/>
              <a:buChar char="•"/>
            </a:pPr>
            <a:r>
              <a:rPr lang="en-US" sz="1800" b="1" i="0" dirty="0">
                <a:solidFill>
                  <a:schemeClr val="tx1">
                    <a:lumMod val="95000"/>
                    <a:lumOff val="5000"/>
                  </a:schemeClr>
                </a:solidFill>
                <a:effectLst/>
                <a:latin typeface="DeepSeek-CJK-patch"/>
              </a:rPr>
              <a:t>Key Tasks</a:t>
            </a:r>
            <a:r>
              <a:rPr lang="en-US" sz="1800" b="0" i="0" dirty="0">
                <a:solidFill>
                  <a:schemeClr val="tx1">
                    <a:lumMod val="95000"/>
                    <a:lumOff val="5000"/>
                  </a:schemeClr>
                </a:solidFill>
                <a:effectLst/>
                <a:latin typeface="DeepSeek-CJK-patch"/>
              </a:rPr>
              <a:t>:</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Process real-time video streams (e.g., CCTV feeds) using OpenCV.</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Detect sudden crowd surges or violent actions (e.g., fights, weapons).</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Trigger immediate alerts (sound notifications, email alerts to authorities).</a:t>
            </a:r>
          </a:p>
          <a:p>
            <a:pPr algn="l">
              <a:spcBef>
                <a:spcPts val="300"/>
              </a:spcBef>
              <a:buFont typeface="Arial" panose="020B0604020202020204" pitchFamily="34" charset="0"/>
              <a:buChar char="•"/>
            </a:pPr>
            <a:r>
              <a:rPr lang="en-US" sz="1800" b="1" i="0" dirty="0">
                <a:solidFill>
                  <a:schemeClr val="tx1">
                    <a:lumMod val="95000"/>
                    <a:lumOff val="5000"/>
                  </a:schemeClr>
                </a:solidFill>
                <a:effectLst/>
                <a:latin typeface="DeepSeek-CJK-patch"/>
              </a:rPr>
              <a:t>Output</a:t>
            </a:r>
            <a:r>
              <a:rPr lang="en-US" sz="1800" b="0" i="0" dirty="0">
                <a:solidFill>
                  <a:schemeClr val="tx1">
                    <a:lumMod val="95000"/>
                    <a:lumOff val="5000"/>
                  </a:schemeClr>
                </a:solidFill>
                <a:effectLst/>
                <a:latin typeface="DeepSeek-CJK-patch"/>
              </a:rPr>
              <a:t>: Real-time threat detection with automated alerts.</a:t>
            </a:r>
          </a:p>
          <a:p>
            <a:pPr algn="l">
              <a:spcBef>
                <a:spcPts val="300"/>
              </a:spcBef>
              <a:buFont typeface="Arial" panose="020B0604020202020204" pitchFamily="34" charset="0"/>
              <a:buChar char="•"/>
            </a:pPr>
            <a:endParaRPr lang="en-US" sz="2000" b="0" i="0" dirty="0">
              <a:solidFill>
                <a:schemeClr val="tx1">
                  <a:lumMod val="95000"/>
                  <a:lumOff val="5000"/>
                </a:schemeClr>
              </a:solidFill>
              <a:effectLst/>
              <a:latin typeface="DeepSeek-CJK-patch"/>
            </a:endParaRPr>
          </a:p>
          <a:p>
            <a:pPr algn="l">
              <a:buNone/>
            </a:pPr>
            <a:r>
              <a:rPr lang="en-US" sz="2000" b="1" i="0" dirty="0">
                <a:solidFill>
                  <a:schemeClr val="tx1">
                    <a:lumMod val="95000"/>
                    <a:lumOff val="5000"/>
                  </a:schemeClr>
                </a:solidFill>
                <a:effectLst/>
                <a:latin typeface="DeepSeek-CJK-patch"/>
              </a:rPr>
              <a:t>4. Backend and </a:t>
            </a:r>
            <a:r>
              <a:rPr lang="en-US" sz="2000" b="1" i="0" dirty="0" err="1">
                <a:solidFill>
                  <a:schemeClr val="tx1">
                    <a:lumMod val="95000"/>
                    <a:lumOff val="5000"/>
                  </a:schemeClr>
                </a:solidFill>
                <a:effectLst/>
                <a:latin typeface="DeepSeek-CJK-patch"/>
              </a:rPr>
              <a:t>Streamlit</a:t>
            </a:r>
            <a:r>
              <a:rPr lang="en-US" sz="2000" b="1" i="0" dirty="0">
                <a:solidFill>
                  <a:schemeClr val="tx1">
                    <a:lumMod val="95000"/>
                    <a:lumOff val="5000"/>
                  </a:schemeClr>
                </a:solidFill>
                <a:effectLst/>
                <a:latin typeface="DeepSeek-CJK-patch"/>
              </a:rPr>
              <a:t> Web App</a:t>
            </a:r>
          </a:p>
          <a:p>
            <a:pPr algn="l">
              <a:buFont typeface="Arial" panose="020B0604020202020204" pitchFamily="34" charset="0"/>
              <a:buChar char="•"/>
            </a:pPr>
            <a:r>
              <a:rPr lang="en-US" sz="1800" b="1" i="0" dirty="0">
                <a:solidFill>
                  <a:schemeClr val="tx1">
                    <a:lumMod val="95000"/>
                    <a:lumOff val="5000"/>
                  </a:schemeClr>
                </a:solidFill>
                <a:effectLst/>
                <a:latin typeface="DeepSeek-CJK-patch"/>
              </a:rPr>
              <a:t>Objective</a:t>
            </a:r>
            <a:r>
              <a:rPr lang="en-US" sz="1800" b="0" i="0" dirty="0">
                <a:solidFill>
                  <a:schemeClr val="tx1">
                    <a:lumMod val="95000"/>
                    <a:lumOff val="5000"/>
                  </a:schemeClr>
                </a:solidFill>
                <a:effectLst/>
                <a:latin typeface="DeepSeek-CJK-patch"/>
              </a:rPr>
              <a:t>: Provide a user-friendly interface for system interaction.</a:t>
            </a:r>
          </a:p>
          <a:p>
            <a:pPr algn="l">
              <a:spcBef>
                <a:spcPts val="300"/>
              </a:spcBef>
              <a:spcAft>
                <a:spcPts val="300"/>
              </a:spcAft>
              <a:buFont typeface="Arial" panose="020B0604020202020204" pitchFamily="34" charset="0"/>
              <a:buChar char="•"/>
            </a:pPr>
            <a:r>
              <a:rPr lang="en-US" sz="1800" b="1" i="0" dirty="0">
                <a:solidFill>
                  <a:schemeClr val="tx1">
                    <a:lumMod val="95000"/>
                    <a:lumOff val="5000"/>
                  </a:schemeClr>
                </a:solidFill>
                <a:effectLst/>
                <a:latin typeface="DeepSeek-CJK-patch"/>
              </a:rPr>
              <a:t>Key Tasks</a:t>
            </a:r>
            <a:r>
              <a:rPr lang="en-US" sz="1800" b="0" i="0" dirty="0">
                <a:solidFill>
                  <a:schemeClr val="tx1">
                    <a:lumMod val="95000"/>
                    <a:lumOff val="5000"/>
                  </a:schemeClr>
                </a:solidFill>
                <a:effectLst/>
                <a:latin typeface="DeepSeek-CJK-patch"/>
              </a:rPr>
              <a:t>:</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Develop backend logic to handle model predictions and data flow.</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Build a frontend using </a:t>
            </a:r>
            <a:r>
              <a:rPr lang="en-US" sz="1800" b="0" i="0" dirty="0" err="1">
                <a:solidFill>
                  <a:schemeClr val="tx1">
                    <a:lumMod val="95000"/>
                    <a:lumOff val="5000"/>
                  </a:schemeClr>
                </a:solidFill>
                <a:effectLst/>
                <a:latin typeface="DeepSeek-CJK-patch"/>
              </a:rPr>
              <a:t>Streamlit</a:t>
            </a:r>
            <a:r>
              <a:rPr lang="en-US" sz="1800" b="0" i="0" dirty="0">
                <a:solidFill>
                  <a:schemeClr val="tx1">
                    <a:lumMod val="95000"/>
                    <a:lumOff val="5000"/>
                  </a:schemeClr>
                </a:solidFill>
                <a:effectLst/>
                <a:latin typeface="DeepSeek-CJK-patch"/>
              </a:rPr>
              <a:t> for live monitoring and alert management.</a:t>
            </a:r>
          </a:p>
          <a:p>
            <a:pPr marL="742950" lvl="1" indent="-285750" algn="l">
              <a:spcBef>
                <a:spcPts val="300"/>
              </a:spcBef>
              <a:buFont typeface="Arial" panose="020B0604020202020204" pitchFamily="34" charset="0"/>
              <a:buChar char="•"/>
            </a:pPr>
            <a:r>
              <a:rPr lang="en-US" sz="1800" b="0" i="0" dirty="0">
                <a:solidFill>
                  <a:schemeClr val="tx1">
                    <a:lumMod val="95000"/>
                    <a:lumOff val="5000"/>
                  </a:schemeClr>
                </a:solidFill>
                <a:effectLst/>
                <a:latin typeface="DeepSeek-CJK-patch"/>
              </a:rPr>
              <a:t>Enable features like threat visualization, alert logs, and manual override.</a:t>
            </a:r>
          </a:p>
          <a:p>
            <a:pPr algn="l">
              <a:spcBef>
                <a:spcPts val="300"/>
              </a:spcBef>
              <a:buFont typeface="Arial" panose="020B0604020202020204" pitchFamily="34" charset="0"/>
              <a:buChar char="•"/>
            </a:pPr>
            <a:r>
              <a:rPr lang="en-US" sz="1800" b="1" i="0" dirty="0">
                <a:solidFill>
                  <a:schemeClr val="tx1">
                    <a:lumMod val="95000"/>
                    <a:lumOff val="5000"/>
                  </a:schemeClr>
                </a:solidFill>
                <a:effectLst/>
                <a:latin typeface="DeepSeek-CJK-patch"/>
              </a:rPr>
              <a:t>Output</a:t>
            </a:r>
            <a:r>
              <a:rPr lang="en-US" sz="1800" b="0" i="0" dirty="0">
                <a:solidFill>
                  <a:schemeClr val="tx1">
                    <a:lumMod val="95000"/>
                    <a:lumOff val="5000"/>
                  </a:schemeClr>
                </a:solidFill>
                <a:effectLst/>
                <a:latin typeface="DeepSeek-CJK-patch"/>
              </a:rPr>
              <a:t>: Interactive dashboard for security personnel.</a:t>
            </a:r>
          </a:p>
        </p:txBody>
      </p:sp>
      <p:sp>
        <p:nvSpPr>
          <p:cNvPr id="6" name="TextBox 5">
            <a:extLst>
              <a:ext uri="{FF2B5EF4-FFF2-40B4-BE49-F238E27FC236}">
                <a16:creationId xmlns:a16="http://schemas.microsoft.com/office/drawing/2014/main" id="{0C661AB0-9CA3-C1F1-D607-CDEEBA30BE94}"/>
              </a:ext>
            </a:extLst>
          </p:cNvPr>
          <p:cNvSpPr txBox="1"/>
          <p:nvPr/>
        </p:nvSpPr>
        <p:spPr>
          <a:xfrm>
            <a:off x="143933" y="159380"/>
            <a:ext cx="11988800" cy="769441"/>
          </a:xfrm>
          <a:prstGeom prst="rect">
            <a:avLst/>
          </a:prstGeom>
          <a:noFill/>
        </p:spPr>
        <p:txBody>
          <a:bodyPr wrap="square">
            <a:spAutoFit/>
          </a:bodyPr>
          <a:lstStyle/>
          <a:p>
            <a:r>
              <a:rPr lang="en-US" sz="44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4400" dirty="0">
              <a:solidFill>
                <a:schemeClr val="tx1">
                  <a:lumMod val="95000"/>
                  <a:lumOff val="5000"/>
                </a:schemeClr>
              </a:solidFill>
            </a:endParaRPr>
          </a:p>
        </p:txBody>
      </p:sp>
    </p:spTree>
    <p:extLst>
      <p:ext uri="{BB962C8B-B14F-4D97-AF65-F5344CB8AC3E}">
        <p14:creationId xmlns:p14="http://schemas.microsoft.com/office/powerpoint/2010/main" val="3152818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3F261E-ABBC-C924-245A-2152CAEEBF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26</a:t>
            </a:fld>
            <a:endParaRPr lang="en-IN"/>
          </a:p>
        </p:txBody>
      </p:sp>
      <p:sp>
        <p:nvSpPr>
          <p:cNvPr id="4" name="TextBox 3">
            <a:extLst>
              <a:ext uri="{FF2B5EF4-FFF2-40B4-BE49-F238E27FC236}">
                <a16:creationId xmlns:a16="http://schemas.microsoft.com/office/drawing/2014/main" id="{305ABB6B-B220-8848-363D-025BFE7C48D4}"/>
              </a:ext>
            </a:extLst>
          </p:cNvPr>
          <p:cNvSpPr txBox="1"/>
          <p:nvPr/>
        </p:nvSpPr>
        <p:spPr>
          <a:xfrm>
            <a:off x="92890" y="208314"/>
            <a:ext cx="12099109" cy="769441"/>
          </a:xfrm>
          <a:prstGeom prst="rect">
            <a:avLst/>
          </a:prstGeom>
          <a:noFill/>
        </p:spPr>
        <p:txBody>
          <a:bodyPr wrap="square">
            <a:spAutoFit/>
          </a:bodyPr>
          <a:lstStyle/>
          <a:p>
            <a:r>
              <a:rPr lang="en-US" sz="44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Module Description</a:t>
            </a:r>
            <a:endParaRPr lang="en-IN" sz="4400" dirty="0">
              <a:solidFill>
                <a:schemeClr val="tx1">
                  <a:lumMod val="95000"/>
                  <a:lumOff val="5000"/>
                </a:schemeClr>
              </a:solidFill>
            </a:endParaRPr>
          </a:p>
        </p:txBody>
      </p:sp>
      <p:sp>
        <p:nvSpPr>
          <p:cNvPr id="8" name="Rectangle 4">
            <a:extLst>
              <a:ext uri="{FF2B5EF4-FFF2-40B4-BE49-F238E27FC236}">
                <a16:creationId xmlns:a16="http://schemas.microsoft.com/office/drawing/2014/main" id="{289FE8D9-F435-598B-FD94-674288B3C021}"/>
              </a:ext>
            </a:extLst>
          </p:cNvPr>
          <p:cNvSpPr>
            <a:spLocks noChangeArrowheads="1"/>
          </p:cNvSpPr>
          <p:nvPr/>
        </p:nvSpPr>
        <p:spPr bwMode="auto">
          <a:xfrm>
            <a:off x="532674" y="1103075"/>
            <a:ext cx="12926423" cy="240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218"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lumMod val="95000"/>
                    <a:lumOff val="5000"/>
                  </a:schemeClr>
                </a:solidFill>
                <a:effectLst/>
                <a:latin typeface="DeepSeek-CJK-patch"/>
              </a:rPr>
              <a:t>5. Continuous Improvement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Objective</a:t>
            </a:r>
            <a:r>
              <a:rPr kumimoji="0" lang="en-US" altLang="en-US" sz="1800" b="0" i="0" u="none" strike="noStrike" cap="none" normalizeH="0" baseline="0" dirty="0">
                <a:ln>
                  <a:noFill/>
                </a:ln>
                <a:solidFill>
                  <a:schemeClr val="tx1">
                    <a:lumMod val="95000"/>
                    <a:lumOff val="5000"/>
                  </a:schemeClr>
                </a:solidFill>
                <a:effectLst/>
                <a:latin typeface="DeepSeek-CJK-patch"/>
              </a:rPr>
              <a:t>: Enhance model accuracy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Key Tasks</a:t>
            </a:r>
            <a:r>
              <a:rPr kumimoji="0" lang="en-US" altLang="en-US" sz="1800" b="0" i="0" u="none" strike="noStrike" cap="none" normalizeH="0" baseline="0" dirty="0">
                <a:ln>
                  <a:noFill/>
                </a:ln>
                <a:solidFill>
                  <a:schemeClr val="tx1">
                    <a:lumMod val="95000"/>
                    <a:lumOff val="5000"/>
                  </a:schemeClr>
                </a:solidFill>
                <a:effectLst/>
                <a:latin typeface="DeepSeek-CJK-patch"/>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lumOff val="5000"/>
                  </a:schemeClr>
                </a:solidFill>
                <a:effectLst/>
                <a:latin typeface="DeepSeek-CJK-patch"/>
              </a:rPr>
              <a:t>Incorporate new data and user feedback into retraining cycles.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lumMod val="95000"/>
                    <a:lumOff val="5000"/>
                  </a:schemeClr>
                </a:solidFill>
                <a:effectLst/>
                <a:latin typeface="DeepSeek-CJK-patch"/>
              </a:rPr>
              <a:t>Fine-tune the model to adapt to emerging threats.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Output</a:t>
            </a:r>
            <a:r>
              <a:rPr kumimoji="0" lang="en-US" altLang="en-US" sz="1800" b="0" i="0" u="none" strike="noStrike" cap="none" normalizeH="0" baseline="0" dirty="0">
                <a:ln>
                  <a:noFill/>
                </a:ln>
                <a:solidFill>
                  <a:schemeClr val="tx1">
                    <a:lumMod val="95000"/>
                    <a:lumOff val="5000"/>
                  </a:schemeClr>
                </a:solidFill>
                <a:effectLst/>
                <a:latin typeface="DeepSeek-CJK-patch"/>
              </a:rPr>
              <a:t>: Self-improving detection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95000"/>
                  <a:lumOff val="5000"/>
                </a:schemeClr>
              </a:solidFill>
              <a:effectLst/>
              <a:latin typeface="Arial" panose="020B0604020202020204" pitchFamily="34" charset="0"/>
            </a:endParaRPr>
          </a:p>
        </p:txBody>
      </p:sp>
      <p:sp>
        <p:nvSpPr>
          <p:cNvPr id="10" name="Rectangle 6">
            <a:extLst>
              <a:ext uri="{FF2B5EF4-FFF2-40B4-BE49-F238E27FC236}">
                <a16:creationId xmlns:a16="http://schemas.microsoft.com/office/drawing/2014/main" id="{EE8A02FE-C542-7300-69E7-3C324F062A33}"/>
              </a:ext>
            </a:extLst>
          </p:cNvPr>
          <p:cNvSpPr>
            <a:spLocks noChangeArrowheads="1"/>
          </p:cNvSpPr>
          <p:nvPr/>
        </p:nvSpPr>
        <p:spPr bwMode="auto">
          <a:xfrm>
            <a:off x="532674" y="3429000"/>
            <a:ext cx="11675776" cy="2580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lumMod val="95000"/>
                    <a:lumOff val="5000"/>
                  </a:schemeClr>
                </a:solidFill>
                <a:effectLst/>
                <a:latin typeface="DeepSeek-CJK-patch"/>
              </a:rPr>
              <a:t>Key Features Highlighted in Modules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Automation</a:t>
            </a:r>
            <a:r>
              <a:rPr kumimoji="0" lang="en-US" altLang="en-US" sz="1800" b="0" i="0" u="none" strike="noStrike" cap="none" normalizeH="0" baseline="0" dirty="0">
                <a:ln>
                  <a:noFill/>
                </a:ln>
                <a:solidFill>
                  <a:schemeClr val="tx1">
                    <a:lumMod val="95000"/>
                    <a:lumOff val="5000"/>
                  </a:schemeClr>
                </a:solidFill>
                <a:effectLst/>
                <a:latin typeface="DeepSeek-CJK-patch"/>
              </a:rPr>
              <a:t>: Reduces human error in surveillance.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Scalability</a:t>
            </a:r>
            <a:r>
              <a:rPr kumimoji="0" lang="en-US" altLang="en-US" sz="1800" b="0" i="0" u="none" strike="noStrike" cap="none" normalizeH="0" baseline="0" dirty="0">
                <a:ln>
                  <a:noFill/>
                </a:ln>
                <a:solidFill>
                  <a:schemeClr val="tx1">
                    <a:lumMod val="95000"/>
                    <a:lumOff val="5000"/>
                  </a:schemeClr>
                </a:solidFill>
                <a:effectLst/>
                <a:latin typeface="DeepSeek-CJK-patch"/>
              </a:rPr>
              <a:t>: Adaptable to various environments (public events, surveillance zones).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Proactive Alerts</a:t>
            </a:r>
            <a:r>
              <a:rPr kumimoji="0" lang="en-US" altLang="en-US" sz="1800" b="0" i="0" u="none" strike="noStrike" cap="none" normalizeH="0" baseline="0" dirty="0">
                <a:ln>
                  <a:noFill/>
                </a:ln>
                <a:solidFill>
                  <a:schemeClr val="tx1">
                    <a:lumMod val="95000"/>
                    <a:lumOff val="5000"/>
                  </a:schemeClr>
                </a:solidFill>
                <a:effectLst/>
                <a:latin typeface="DeepSeek-CJK-patch"/>
              </a:rPr>
              <a:t>: Email/sound notifications enable rapid response.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lumMod val="95000"/>
                    <a:lumOff val="5000"/>
                  </a:schemeClr>
                </a:solidFill>
                <a:effectLst/>
                <a:latin typeface="DeepSeek-CJK-patch"/>
              </a:rPr>
              <a:t>User-Friendly</a:t>
            </a:r>
            <a:r>
              <a:rPr kumimoji="0" lang="en-US" altLang="en-US" sz="1800" b="0" i="0" u="none" strike="noStrike" cap="none" normalizeH="0" baseline="0" dirty="0">
                <a:ln>
                  <a:noFill/>
                </a:ln>
                <a:solidFill>
                  <a:schemeClr val="tx1">
                    <a:lumMod val="95000"/>
                    <a:lumOff val="5000"/>
                  </a:schemeClr>
                </a:solidFill>
                <a:effectLst/>
                <a:latin typeface="DeepSeek-CJK-patch"/>
              </a:rPr>
              <a:t>: </a:t>
            </a:r>
            <a:r>
              <a:rPr kumimoji="0" lang="en-US" altLang="en-US" sz="1800" b="0" i="0" u="none" strike="noStrike" cap="none" normalizeH="0" baseline="0" dirty="0" err="1">
                <a:ln>
                  <a:noFill/>
                </a:ln>
                <a:solidFill>
                  <a:schemeClr val="tx1">
                    <a:lumMod val="95000"/>
                    <a:lumOff val="5000"/>
                  </a:schemeClr>
                </a:solidFill>
                <a:effectLst/>
                <a:latin typeface="DeepSeek-CJK-patch"/>
              </a:rPr>
              <a:t>Streamlit</a:t>
            </a:r>
            <a:r>
              <a:rPr kumimoji="0" lang="en-US" altLang="en-US" sz="1800" b="0" i="0" u="none" strike="noStrike" cap="none" normalizeH="0" baseline="0" dirty="0">
                <a:ln>
                  <a:noFill/>
                </a:ln>
                <a:solidFill>
                  <a:schemeClr val="tx1">
                    <a:lumMod val="95000"/>
                    <a:lumOff val="5000"/>
                  </a:schemeClr>
                </a:solidFill>
                <a:effectLst/>
                <a:latin typeface="DeepSeek-CJK-patch"/>
              </a:rPr>
              <a:t> interface simplifies operation for non-technical users.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3900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FB364F-9FB4-E272-5A93-664EE6870C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27</a:t>
            </a:fld>
            <a:endParaRPr lang="en-IN"/>
          </a:p>
        </p:txBody>
      </p:sp>
      <p:sp>
        <p:nvSpPr>
          <p:cNvPr id="4" name="TextBox 3">
            <a:extLst>
              <a:ext uri="{FF2B5EF4-FFF2-40B4-BE49-F238E27FC236}">
                <a16:creationId xmlns:a16="http://schemas.microsoft.com/office/drawing/2014/main" id="{9F0E4110-C89F-6E33-3BB7-FAE3B15D2F52}"/>
              </a:ext>
            </a:extLst>
          </p:cNvPr>
          <p:cNvSpPr txBox="1"/>
          <p:nvPr/>
        </p:nvSpPr>
        <p:spPr>
          <a:xfrm>
            <a:off x="200297" y="351209"/>
            <a:ext cx="11634651" cy="769441"/>
          </a:xfrm>
          <a:prstGeom prst="rect">
            <a:avLst/>
          </a:prstGeom>
          <a:noFill/>
        </p:spPr>
        <p:txBody>
          <a:bodyPr wrap="square">
            <a:spAutoFit/>
          </a:bodyPr>
          <a:lstStyle/>
          <a:p>
            <a:r>
              <a:rPr lang="en-US" sz="4400" b="1"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Testing /Performance Evaluation / Results</a:t>
            </a:r>
            <a:endParaRPr lang="en-IN" sz="4400" dirty="0">
              <a:solidFill>
                <a:schemeClr val="tx1">
                  <a:lumMod val="95000"/>
                  <a:lumOff val="5000"/>
                </a:schemeClr>
              </a:solidFill>
            </a:endParaRPr>
          </a:p>
        </p:txBody>
      </p:sp>
      <p:graphicFrame>
        <p:nvGraphicFramePr>
          <p:cNvPr id="5" name="Table 4">
            <a:extLst>
              <a:ext uri="{FF2B5EF4-FFF2-40B4-BE49-F238E27FC236}">
                <a16:creationId xmlns:a16="http://schemas.microsoft.com/office/drawing/2014/main" id="{77DE68B3-F0C4-25F9-2D3F-985EB964E147}"/>
              </a:ext>
            </a:extLst>
          </p:cNvPr>
          <p:cNvGraphicFramePr>
            <a:graphicFrameLocks noGrp="1"/>
          </p:cNvGraphicFramePr>
          <p:nvPr>
            <p:extLst>
              <p:ext uri="{D42A27DB-BD31-4B8C-83A1-F6EECF244321}">
                <p14:modId xmlns:p14="http://schemas.microsoft.com/office/powerpoint/2010/main" val="2519198474"/>
              </p:ext>
            </p:extLst>
          </p:nvPr>
        </p:nvGraphicFramePr>
        <p:xfrm>
          <a:off x="423333" y="1120651"/>
          <a:ext cx="9819660" cy="5207792"/>
        </p:xfrm>
        <a:graphic>
          <a:graphicData uri="http://schemas.openxmlformats.org/drawingml/2006/table">
            <a:tbl>
              <a:tblPr/>
              <a:tblGrid>
                <a:gridCol w="3273220">
                  <a:extLst>
                    <a:ext uri="{9D8B030D-6E8A-4147-A177-3AD203B41FA5}">
                      <a16:colId xmlns:a16="http://schemas.microsoft.com/office/drawing/2014/main" val="3870175599"/>
                    </a:ext>
                  </a:extLst>
                </a:gridCol>
                <a:gridCol w="3273220">
                  <a:extLst>
                    <a:ext uri="{9D8B030D-6E8A-4147-A177-3AD203B41FA5}">
                      <a16:colId xmlns:a16="http://schemas.microsoft.com/office/drawing/2014/main" val="3894908318"/>
                    </a:ext>
                  </a:extLst>
                </a:gridCol>
                <a:gridCol w="3273220">
                  <a:extLst>
                    <a:ext uri="{9D8B030D-6E8A-4147-A177-3AD203B41FA5}">
                      <a16:colId xmlns:a16="http://schemas.microsoft.com/office/drawing/2014/main" val="3410791159"/>
                    </a:ext>
                  </a:extLst>
                </a:gridCol>
              </a:tblGrid>
              <a:tr h="279354">
                <a:tc>
                  <a:txBody>
                    <a:bodyPr/>
                    <a:lstStyle/>
                    <a:p>
                      <a:r>
                        <a:rPr lang="en-IN" sz="1400">
                          <a:solidFill>
                            <a:schemeClr val="tx1">
                              <a:lumMod val="95000"/>
                              <a:lumOff val="5000"/>
                            </a:schemeClr>
                          </a:solidFill>
                        </a:rPr>
                        <a:t>Category</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Metric</a:t>
                      </a: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Result</a:t>
                      </a:r>
                    </a:p>
                  </a:txBody>
                  <a:tcPr marL="72122" marR="72122" marT="36061" marB="36061" anchor="ctr">
                    <a:lnL>
                      <a:noFill/>
                    </a:lnL>
                    <a:lnR>
                      <a:noFill/>
                    </a:lnR>
                    <a:lnT>
                      <a:noFill/>
                    </a:lnT>
                    <a:lnB>
                      <a:noFill/>
                    </a:lnB>
                    <a:noFill/>
                  </a:tcPr>
                </a:tc>
                <a:extLst>
                  <a:ext uri="{0D108BD9-81ED-4DB2-BD59-A6C34878D82A}">
                    <a16:rowId xmlns:a16="http://schemas.microsoft.com/office/drawing/2014/main" val="2858578231"/>
                  </a:ext>
                </a:extLst>
              </a:tr>
              <a:tr h="279354">
                <a:tc>
                  <a:txBody>
                    <a:bodyPr/>
                    <a:lstStyle/>
                    <a:p>
                      <a:r>
                        <a:rPr lang="en-IN" sz="1400" b="1">
                          <a:solidFill>
                            <a:schemeClr val="tx1">
                              <a:lumMod val="95000"/>
                              <a:lumOff val="5000"/>
                            </a:schemeClr>
                          </a:solidFill>
                        </a:rPr>
                        <a:t>Model Performance</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Accuracy</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91.2%</a:t>
                      </a:r>
                    </a:p>
                  </a:txBody>
                  <a:tcPr marL="72122" marR="72122" marT="36061" marB="36061" anchor="ctr">
                    <a:lnL>
                      <a:noFill/>
                    </a:lnL>
                    <a:lnR>
                      <a:noFill/>
                    </a:lnR>
                    <a:lnT>
                      <a:noFill/>
                    </a:lnT>
                    <a:lnB>
                      <a:noFill/>
                    </a:lnB>
                    <a:noFill/>
                  </a:tcPr>
                </a:tc>
                <a:extLst>
                  <a:ext uri="{0D108BD9-81ED-4DB2-BD59-A6C34878D82A}">
                    <a16:rowId xmlns:a16="http://schemas.microsoft.com/office/drawing/2014/main" val="876756120"/>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Precision</a:t>
                      </a: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89.5%</a:t>
                      </a:r>
                    </a:p>
                  </a:txBody>
                  <a:tcPr marL="72122" marR="72122" marT="36061" marB="36061" anchor="ctr">
                    <a:lnL>
                      <a:noFill/>
                    </a:lnL>
                    <a:lnR>
                      <a:noFill/>
                    </a:lnR>
                    <a:lnT>
                      <a:noFill/>
                    </a:lnT>
                    <a:lnB>
                      <a:noFill/>
                    </a:lnB>
                    <a:noFill/>
                  </a:tcPr>
                </a:tc>
                <a:extLst>
                  <a:ext uri="{0D108BD9-81ED-4DB2-BD59-A6C34878D82A}">
                    <a16:rowId xmlns:a16="http://schemas.microsoft.com/office/drawing/2014/main" val="2014896666"/>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Recall</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90.3%</a:t>
                      </a:r>
                    </a:p>
                  </a:txBody>
                  <a:tcPr marL="72122" marR="72122" marT="36061" marB="36061" anchor="ctr">
                    <a:lnL>
                      <a:noFill/>
                    </a:lnL>
                    <a:lnR>
                      <a:noFill/>
                    </a:lnR>
                    <a:lnT>
                      <a:noFill/>
                    </a:lnT>
                    <a:lnB>
                      <a:noFill/>
                    </a:lnB>
                    <a:noFill/>
                  </a:tcPr>
                </a:tc>
                <a:extLst>
                  <a:ext uri="{0D108BD9-81ED-4DB2-BD59-A6C34878D82A}">
                    <a16:rowId xmlns:a16="http://schemas.microsoft.com/office/drawing/2014/main" val="1226628844"/>
                  </a:ext>
                </a:extLst>
              </a:tr>
              <a:tr h="279354">
                <a:tc>
                  <a:txBody>
                    <a:bodyPr/>
                    <a:lstStyle/>
                    <a:p>
                      <a:endParaRPr lang="en-IN" sz="1400" dirty="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F1-score</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89.9%</a:t>
                      </a:r>
                    </a:p>
                  </a:txBody>
                  <a:tcPr marL="72122" marR="72122" marT="36061" marB="36061" anchor="ctr">
                    <a:lnL>
                      <a:noFill/>
                    </a:lnL>
                    <a:lnR>
                      <a:noFill/>
                    </a:lnR>
                    <a:lnT>
                      <a:noFill/>
                    </a:lnT>
                    <a:lnB>
                      <a:noFill/>
                    </a:lnB>
                    <a:noFill/>
                  </a:tcPr>
                </a:tc>
                <a:extLst>
                  <a:ext uri="{0D108BD9-81ED-4DB2-BD59-A6C34878D82A}">
                    <a16:rowId xmlns:a16="http://schemas.microsoft.com/office/drawing/2014/main" val="1718230722"/>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False Positives</a:t>
                      </a: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6.5%</a:t>
                      </a:r>
                    </a:p>
                  </a:txBody>
                  <a:tcPr marL="72122" marR="72122" marT="36061" marB="36061" anchor="ctr">
                    <a:lnL>
                      <a:noFill/>
                    </a:lnL>
                    <a:lnR>
                      <a:noFill/>
                    </a:lnR>
                    <a:lnT>
                      <a:noFill/>
                    </a:lnT>
                    <a:lnB>
                      <a:noFill/>
                    </a:lnB>
                    <a:noFill/>
                  </a:tcPr>
                </a:tc>
                <a:extLst>
                  <a:ext uri="{0D108BD9-81ED-4DB2-BD59-A6C34878D82A}">
                    <a16:rowId xmlns:a16="http://schemas.microsoft.com/office/drawing/2014/main" val="2208299300"/>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False Negatives</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5.2%</a:t>
                      </a:r>
                    </a:p>
                  </a:txBody>
                  <a:tcPr marL="72122" marR="72122" marT="36061" marB="36061" anchor="ctr">
                    <a:lnL>
                      <a:noFill/>
                    </a:lnL>
                    <a:lnR>
                      <a:noFill/>
                    </a:lnR>
                    <a:lnT>
                      <a:noFill/>
                    </a:lnT>
                    <a:lnB>
                      <a:noFill/>
                    </a:lnB>
                    <a:noFill/>
                  </a:tcPr>
                </a:tc>
                <a:extLst>
                  <a:ext uri="{0D108BD9-81ED-4DB2-BD59-A6C34878D82A}">
                    <a16:rowId xmlns:a16="http://schemas.microsoft.com/office/drawing/2014/main" val="2858868053"/>
                  </a:ext>
                </a:extLst>
              </a:tr>
              <a:tr h="279354">
                <a:tc>
                  <a:txBody>
                    <a:bodyPr/>
                    <a:lstStyle/>
                    <a:p>
                      <a:r>
                        <a:rPr lang="en-IN" sz="1400" b="1" dirty="0">
                          <a:solidFill>
                            <a:schemeClr val="tx1">
                              <a:lumMod val="95000"/>
                              <a:lumOff val="5000"/>
                            </a:schemeClr>
                          </a:solidFill>
                        </a:rPr>
                        <a:t>Speed Metrics</a:t>
                      </a:r>
                      <a:endParaRPr lang="en-IN" sz="1400" dirty="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Inference Speed</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30 FPS</a:t>
                      </a:r>
                    </a:p>
                  </a:txBody>
                  <a:tcPr marL="72122" marR="72122" marT="36061" marB="36061" anchor="ctr">
                    <a:lnL>
                      <a:noFill/>
                    </a:lnL>
                    <a:lnR>
                      <a:noFill/>
                    </a:lnR>
                    <a:lnT>
                      <a:noFill/>
                    </a:lnT>
                    <a:lnB>
                      <a:noFill/>
                    </a:lnB>
                    <a:noFill/>
                  </a:tcPr>
                </a:tc>
                <a:extLst>
                  <a:ext uri="{0D108BD9-81ED-4DB2-BD59-A6C34878D82A}">
                    <a16:rowId xmlns:a16="http://schemas.microsoft.com/office/drawing/2014/main" val="703229272"/>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Alert Trigger Time</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2.1 seconds</a:t>
                      </a:r>
                    </a:p>
                  </a:txBody>
                  <a:tcPr marL="72122" marR="72122" marT="36061" marB="36061" anchor="ctr">
                    <a:lnL>
                      <a:noFill/>
                    </a:lnL>
                    <a:lnR>
                      <a:noFill/>
                    </a:lnR>
                    <a:lnT>
                      <a:noFill/>
                    </a:lnT>
                    <a:lnB>
                      <a:noFill/>
                    </a:lnB>
                    <a:noFill/>
                  </a:tcPr>
                </a:tc>
                <a:extLst>
                  <a:ext uri="{0D108BD9-81ED-4DB2-BD59-A6C34878D82A}">
                    <a16:rowId xmlns:a16="http://schemas.microsoft.com/office/drawing/2014/main" val="2227699162"/>
                  </a:ext>
                </a:extLst>
              </a:tr>
              <a:tr h="474902">
                <a:tc>
                  <a:txBody>
                    <a:bodyPr/>
                    <a:lstStyle/>
                    <a:p>
                      <a:r>
                        <a:rPr lang="en-IN" sz="1400" b="1">
                          <a:solidFill>
                            <a:schemeClr val="tx1">
                              <a:lumMod val="95000"/>
                              <a:lumOff val="5000"/>
                            </a:schemeClr>
                          </a:solidFill>
                        </a:rPr>
                        <a:t>Data Processing</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Preprocessing</a:t>
                      </a:r>
                    </a:p>
                  </a:txBody>
                  <a:tcPr marL="72122" marR="72122" marT="36061" marB="36061" anchor="ctr">
                    <a:lnL>
                      <a:noFill/>
                    </a:lnL>
                    <a:lnR>
                      <a:noFill/>
                    </a:lnR>
                    <a:lnT>
                      <a:noFill/>
                    </a:lnT>
                    <a:lnB>
                      <a:noFill/>
                    </a:lnB>
                    <a:noFill/>
                  </a:tcPr>
                </a:tc>
                <a:tc>
                  <a:txBody>
                    <a:bodyPr/>
                    <a:lstStyle/>
                    <a:p>
                      <a:r>
                        <a:rPr lang="en-US" sz="1400">
                          <a:solidFill>
                            <a:schemeClr val="tx1">
                              <a:lumMod val="95000"/>
                              <a:lumOff val="5000"/>
                            </a:schemeClr>
                          </a:solidFill>
                        </a:rPr>
                        <a:t>Normalization, augmentation, missing value handling</a:t>
                      </a:r>
                    </a:p>
                  </a:txBody>
                  <a:tcPr marL="72122" marR="72122" marT="36061" marB="36061" anchor="ctr">
                    <a:lnL>
                      <a:noFill/>
                    </a:lnL>
                    <a:lnR>
                      <a:noFill/>
                    </a:lnR>
                    <a:lnT>
                      <a:noFill/>
                    </a:lnT>
                    <a:lnB>
                      <a:noFill/>
                    </a:lnB>
                    <a:noFill/>
                  </a:tcPr>
                </a:tc>
                <a:extLst>
                  <a:ext uri="{0D108BD9-81ED-4DB2-BD59-A6C34878D82A}">
                    <a16:rowId xmlns:a16="http://schemas.microsoft.com/office/drawing/2014/main" val="2029207229"/>
                  </a:ext>
                </a:extLst>
              </a:tr>
              <a:tr h="474902">
                <a:tc>
                  <a:txBody>
                    <a:bodyPr/>
                    <a:lstStyle/>
                    <a:p>
                      <a:r>
                        <a:rPr lang="en-IN" sz="1400" b="1" dirty="0">
                          <a:solidFill>
                            <a:schemeClr val="tx1">
                              <a:lumMod val="95000"/>
                              <a:lumOff val="5000"/>
                            </a:schemeClr>
                          </a:solidFill>
                        </a:rPr>
                        <a:t>Training</a:t>
                      </a:r>
                      <a:endParaRPr lang="en-IN" sz="1400" dirty="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Model</a:t>
                      </a:r>
                    </a:p>
                  </a:txBody>
                  <a:tcPr marL="72122" marR="72122" marT="36061" marB="36061" anchor="ctr">
                    <a:lnL>
                      <a:noFill/>
                    </a:lnL>
                    <a:lnR>
                      <a:noFill/>
                    </a:lnR>
                    <a:lnT>
                      <a:noFill/>
                    </a:lnT>
                    <a:lnB>
                      <a:noFill/>
                    </a:lnB>
                    <a:noFill/>
                  </a:tcPr>
                </a:tc>
                <a:tc>
                  <a:txBody>
                    <a:bodyPr/>
                    <a:lstStyle/>
                    <a:p>
                      <a:r>
                        <a:rPr lang="en-US" sz="1400">
                          <a:solidFill>
                            <a:schemeClr val="tx1">
                              <a:lumMod val="95000"/>
                              <a:lumOff val="5000"/>
                            </a:schemeClr>
                          </a:solidFill>
                        </a:rPr>
                        <a:t>YOLOv8 (compared with YOLOv5, Faster R-CNN)</a:t>
                      </a:r>
                    </a:p>
                  </a:txBody>
                  <a:tcPr marL="72122" marR="72122" marT="36061" marB="36061" anchor="ctr">
                    <a:lnL>
                      <a:noFill/>
                    </a:lnL>
                    <a:lnR>
                      <a:noFill/>
                    </a:lnR>
                    <a:lnT>
                      <a:noFill/>
                    </a:lnT>
                    <a:lnB>
                      <a:noFill/>
                    </a:lnB>
                    <a:noFill/>
                  </a:tcPr>
                </a:tc>
                <a:extLst>
                  <a:ext uri="{0D108BD9-81ED-4DB2-BD59-A6C34878D82A}">
                    <a16:rowId xmlns:a16="http://schemas.microsoft.com/office/drawing/2014/main" val="2796951415"/>
                  </a:ext>
                </a:extLst>
              </a:tr>
              <a:tr h="474902">
                <a:tc>
                  <a:txBody>
                    <a:bodyPr/>
                    <a:lstStyle/>
                    <a:p>
                      <a:r>
                        <a:rPr lang="en-IN" sz="1400" b="1">
                          <a:solidFill>
                            <a:schemeClr val="tx1">
                              <a:lumMod val="95000"/>
                              <a:lumOff val="5000"/>
                            </a:schemeClr>
                          </a:solidFill>
                        </a:rPr>
                        <a:t>Testing Environment</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Test Data</a:t>
                      </a:r>
                    </a:p>
                  </a:txBody>
                  <a:tcPr marL="72122" marR="72122" marT="36061" marB="36061" anchor="ctr">
                    <a:lnL>
                      <a:noFill/>
                    </a:lnL>
                    <a:lnR>
                      <a:noFill/>
                    </a:lnR>
                    <a:lnT>
                      <a:noFill/>
                    </a:lnT>
                    <a:lnB>
                      <a:noFill/>
                    </a:lnB>
                    <a:noFill/>
                  </a:tcPr>
                </a:tc>
                <a:tc>
                  <a:txBody>
                    <a:bodyPr/>
                    <a:lstStyle/>
                    <a:p>
                      <a:r>
                        <a:rPr lang="en-US" sz="1400">
                          <a:solidFill>
                            <a:schemeClr val="tx1">
                              <a:lumMod val="95000"/>
                              <a:lumOff val="5000"/>
                            </a:schemeClr>
                          </a:solidFill>
                        </a:rPr>
                        <a:t>CCTV footage, real-world crowded environments</a:t>
                      </a:r>
                    </a:p>
                  </a:txBody>
                  <a:tcPr marL="72122" marR="72122" marT="36061" marB="36061" anchor="ctr">
                    <a:lnL>
                      <a:noFill/>
                    </a:lnL>
                    <a:lnR>
                      <a:noFill/>
                    </a:lnR>
                    <a:lnT>
                      <a:noFill/>
                    </a:lnT>
                    <a:lnB>
                      <a:noFill/>
                    </a:lnB>
                    <a:noFill/>
                  </a:tcPr>
                </a:tc>
                <a:extLst>
                  <a:ext uri="{0D108BD9-81ED-4DB2-BD59-A6C34878D82A}">
                    <a16:rowId xmlns:a16="http://schemas.microsoft.com/office/drawing/2014/main" val="4105225407"/>
                  </a:ext>
                </a:extLst>
              </a:tr>
              <a:tr h="279354">
                <a:tc>
                  <a:txBody>
                    <a:bodyPr/>
                    <a:lstStyle/>
                    <a:p>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Test Conditions</a:t>
                      </a:r>
                    </a:p>
                  </a:txBody>
                  <a:tcPr marL="72122" marR="72122" marT="36061" marB="36061" anchor="ctr">
                    <a:lnL>
                      <a:noFill/>
                    </a:lnL>
                    <a:lnR>
                      <a:noFill/>
                    </a:lnR>
                    <a:lnT>
                      <a:noFill/>
                    </a:lnT>
                    <a:lnB>
                      <a:noFill/>
                    </a:lnB>
                    <a:noFill/>
                  </a:tcPr>
                </a:tc>
                <a:tc>
                  <a:txBody>
                    <a:bodyPr/>
                    <a:lstStyle/>
                    <a:p>
                      <a:r>
                        <a:rPr lang="en-US" sz="1400">
                          <a:solidFill>
                            <a:schemeClr val="tx1">
                              <a:lumMod val="95000"/>
                              <a:lumOff val="5000"/>
                            </a:schemeClr>
                          </a:solidFill>
                        </a:rPr>
                        <a:t>Various lighting and crowd conditions</a:t>
                      </a:r>
                    </a:p>
                  </a:txBody>
                  <a:tcPr marL="72122" marR="72122" marT="36061" marB="36061" anchor="ctr">
                    <a:lnL>
                      <a:noFill/>
                    </a:lnL>
                    <a:lnR>
                      <a:noFill/>
                    </a:lnR>
                    <a:lnT>
                      <a:noFill/>
                    </a:lnT>
                    <a:lnB>
                      <a:noFill/>
                    </a:lnB>
                    <a:noFill/>
                  </a:tcPr>
                </a:tc>
                <a:extLst>
                  <a:ext uri="{0D108BD9-81ED-4DB2-BD59-A6C34878D82A}">
                    <a16:rowId xmlns:a16="http://schemas.microsoft.com/office/drawing/2014/main" val="3486357935"/>
                  </a:ext>
                </a:extLst>
              </a:tr>
              <a:tr h="279354">
                <a:tc>
                  <a:txBody>
                    <a:bodyPr/>
                    <a:lstStyle/>
                    <a:p>
                      <a:r>
                        <a:rPr lang="en-IN" sz="1400" b="1">
                          <a:solidFill>
                            <a:schemeClr val="tx1">
                              <a:lumMod val="95000"/>
                              <a:lumOff val="5000"/>
                            </a:schemeClr>
                          </a:solidFill>
                        </a:rPr>
                        <a:t>Dataset</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Source</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Kaggle, Roboflow (50,000 images)</a:t>
                      </a:r>
                    </a:p>
                  </a:txBody>
                  <a:tcPr marL="72122" marR="72122" marT="36061" marB="36061" anchor="ctr">
                    <a:lnL>
                      <a:noFill/>
                    </a:lnL>
                    <a:lnR>
                      <a:noFill/>
                    </a:lnR>
                    <a:lnT>
                      <a:noFill/>
                    </a:lnT>
                    <a:lnB>
                      <a:noFill/>
                    </a:lnB>
                    <a:noFill/>
                  </a:tcPr>
                </a:tc>
                <a:extLst>
                  <a:ext uri="{0D108BD9-81ED-4DB2-BD59-A6C34878D82A}">
                    <a16:rowId xmlns:a16="http://schemas.microsoft.com/office/drawing/2014/main" val="2010321255"/>
                  </a:ext>
                </a:extLst>
              </a:tr>
              <a:tr h="279354">
                <a:tc>
                  <a:txBody>
                    <a:bodyPr/>
                    <a:lstStyle/>
                    <a:p>
                      <a:r>
                        <a:rPr lang="en-IN" sz="1400" b="1">
                          <a:solidFill>
                            <a:schemeClr val="tx1">
                              <a:lumMod val="95000"/>
                              <a:lumOff val="5000"/>
                            </a:schemeClr>
                          </a:solidFill>
                        </a:rPr>
                        <a:t>Challenges</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Identified Issues</a:t>
                      </a: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False positives, occlusions</a:t>
                      </a:r>
                    </a:p>
                  </a:txBody>
                  <a:tcPr marL="72122" marR="72122" marT="36061" marB="36061" anchor="ctr">
                    <a:lnL>
                      <a:noFill/>
                    </a:lnL>
                    <a:lnR>
                      <a:noFill/>
                    </a:lnR>
                    <a:lnT>
                      <a:noFill/>
                    </a:lnT>
                    <a:lnB>
                      <a:noFill/>
                    </a:lnB>
                    <a:noFill/>
                  </a:tcPr>
                </a:tc>
                <a:extLst>
                  <a:ext uri="{0D108BD9-81ED-4DB2-BD59-A6C34878D82A}">
                    <a16:rowId xmlns:a16="http://schemas.microsoft.com/office/drawing/2014/main" val="2954609899"/>
                  </a:ext>
                </a:extLst>
              </a:tr>
              <a:tr h="279354">
                <a:tc>
                  <a:txBody>
                    <a:bodyPr/>
                    <a:lstStyle/>
                    <a:p>
                      <a:r>
                        <a:rPr lang="en-IN" sz="1400" b="1">
                          <a:solidFill>
                            <a:schemeClr val="tx1">
                              <a:lumMod val="95000"/>
                              <a:lumOff val="5000"/>
                            </a:schemeClr>
                          </a:solidFill>
                        </a:rPr>
                        <a:t>Next Steps</a:t>
                      </a:r>
                      <a:endParaRPr lang="en-IN" sz="1400">
                        <a:solidFill>
                          <a:schemeClr val="tx1">
                            <a:lumMod val="95000"/>
                            <a:lumOff val="5000"/>
                          </a:schemeClr>
                        </a:solidFill>
                      </a:endParaRPr>
                    </a:p>
                  </a:txBody>
                  <a:tcPr marL="72122" marR="72122" marT="36061" marB="36061" anchor="ctr">
                    <a:lnL>
                      <a:noFill/>
                    </a:lnL>
                    <a:lnR>
                      <a:noFill/>
                    </a:lnR>
                    <a:lnT>
                      <a:noFill/>
                    </a:lnT>
                    <a:lnB>
                      <a:noFill/>
                    </a:lnB>
                    <a:noFill/>
                  </a:tcPr>
                </a:tc>
                <a:tc>
                  <a:txBody>
                    <a:bodyPr/>
                    <a:lstStyle/>
                    <a:p>
                      <a:r>
                        <a:rPr lang="en-IN" sz="1400">
                          <a:solidFill>
                            <a:schemeClr val="tx1">
                              <a:lumMod val="95000"/>
                              <a:lumOff val="5000"/>
                            </a:schemeClr>
                          </a:solidFill>
                        </a:rPr>
                        <a:t>Recommendations</a:t>
                      </a:r>
                    </a:p>
                  </a:txBody>
                  <a:tcPr marL="72122" marR="72122" marT="36061" marB="36061" anchor="ctr">
                    <a:lnL>
                      <a:noFill/>
                    </a:lnL>
                    <a:lnR>
                      <a:noFill/>
                    </a:lnR>
                    <a:lnT>
                      <a:noFill/>
                    </a:lnT>
                    <a:lnB>
                      <a:noFill/>
                    </a:lnB>
                    <a:noFill/>
                  </a:tcPr>
                </a:tc>
                <a:tc>
                  <a:txBody>
                    <a:bodyPr/>
                    <a:lstStyle/>
                    <a:p>
                      <a:r>
                        <a:rPr lang="en-IN" sz="1400" dirty="0">
                          <a:solidFill>
                            <a:schemeClr val="tx1">
                              <a:lumMod val="95000"/>
                              <a:lumOff val="5000"/>
                            </a:schemeClr>
                          </a:solidFill>
                        </a:rPr>
                        <a:t>Further fine-tuning, dataset expansion</a:t>
                      </a:r>
                    </a:p>
                  </a:txBody>
                  <a:tcPr marL="72122" marR="72122" marT="36061" marB="36061" anchor="ctr">
                    <a:lnL>
                      <a:noFill/>
                    </a:lnL>
                    <a:lnR>
                      <a:noFill/>
                    </a:lnR>
                    <a:lnT>
                      <a:noFill/>
                    </a:lnT>
                    <a:lnB>
                      <a:noFill/>
                    </a:lnB>
                    <a:noFill/>
                  </a:tcPr>
                </a:tc>
                <a:extLst>
                  <a:ext uri="{0D108BD9-81ED-4DB2-BD59-A6C34878D82A}">
                    <a16:rowId xmlns:a16="http://schemas.microsoft.com/office/drawing/2014/main" val="1500159553"/>
                  </a:ext>
                </a:extLst>
              </a:tr>
            </a:tbl>
          </a:graphicData>
        </a:graphic>
      </p:graphicFrame>
      <p:graphicFrame>
        <p:nvGraphicFramePr>
          <p:cNvPr id="8" name="Table 7">
            <a:extLst>
              <a:ext uri="{FF2B5EF4-FFF2-40B4-BE49-F238E27FC236}">
                <a16:creationId xmlns:a16="http://schemas.microsoft.com/office/drawing/2014/main" id="{59E586A4-ACC1-DB8F-EF30-ADA57DF5B66D}"/>
              </a:ext>
            </a:extLst>
          </p:cNvPr>
          <p:cNvGraphicFramePr>
            <a:graphicFrameLocks noGrp="1"/>
          </p:cNvGraphicFramePr>
          <p:nvPr>
            <p:extLst>
              <p:ext uri="{D42A27DB-BD31-4B8C-83A1-F6EECF244321}">
                <p14:modId xmlns:p14="http://schemas.microsoft.com/office/powerpoint/2010/main" val="2470394849"/>
              </p:ext>
            </p:extLst>
          </p:nvPr>
        </p:nvGraphicFramePr>
        <p:xfrm>
          <a:off x="482601" y="1148557"/>
          <a:ext cx="10270065" cy="5243776"/>
        </p:xfrm>
        <a:graphic>
          <a:graphicData uri="http://schemas.openxmlformats.org/drawingml/2006/table">
            <a:tbl>
              <a:tblPr firstRow="1" bandRow="1">
                <a:tableStyleId>{FB83D1A6-765B-4AAD-898E-D1D04EDBE16B}</a:tableStyleId>
              </a:tblPr>
              <a:tblGrid>
                <a:gridCol w="2700866">
                  <a:extLst>
                    <a:ext uri="{9D8B030D-6E8A-4147-A177-3AD203B41FA5}">
                      <a16:colId xmlns:a16="http://schemas.microsoft.com/office/drawing/2014/main" val="2983759983"/>
                    </a:ext>
                  </a:extLst>
                </a:gridCol>
                <a:gridCol w="3310466">
                  <a:extLst>
                    <a:ext uri="{9D8B030D-6E8A-4147-A177-3AD203B41FA5}">
                      <a16:colId xmlns:a16="http://schemas.microsoft.com/office/drawing/2014/main" val="4122619850"/>
                    </a:ext>
                  </a:extLst>
                </a:gridCol>
                <a:gridCol w="4258733">
                  <a:extLst>
                    <a:ext uri="{9D8B030D-6E8A-4147-A177-3AD203B41FA5}">
                      <a16:colId xmlns:a16="http://schemas.microsoft.com/office/drawing/2014/main" val="173153783"/>
                    </a:ext>
                  </a:extLst>
                </a:gridCol>
              </a:tblGrid>
              <a:tr h="203462">
                <a:tc>
                  <a:txBody>
                    <a:bodyPr/>
                    <a:lstStyle/>
                    <a:p>
                      <a:endParaRPr lang="en-IN" sz="1400" b="0" dirty="0"/>
                    </a:p>
                  </a:txBody>
                  <a:tcPr/>
                </a:tc>
                <a:tc>
                  <a:txBody>
                    <a:bodyPr/>
                    <a:lstStyle/>
                    <a:p>
                      <a:endParaRPr lang="en-IN" sz="1400" b="0" dirty="0"/>
                    </a:p>
                  </a:txBody>
                  <a:tcPr/>
                </a:tc>
                <a:tc>
                  <a:txBody>
                    <a:bodyPr/>
                    <a:lstStyle/>
                    <a:p>
                      <a:endParaRPr lang="en-IN" sz="1400" b="0" dirty="0"/>
                    </a:p>
                  </a:txBody>
                  <a:tcPr/>
                </a:tc>
                <a:extLst>
                  <a:ext uri="{0D108BD9-81ED-4DB2-BD59-A6C34878D82A}">
                    <a16:rowId xmlns:a16="http://schemas.microsoft.com/office/drawing/2014/main" val="11681264"/>
                  </a:ext>
                </a:extLst>
              </a:tr>
              <a:tr h="165391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6128418"/>
                  </a:ext>
                </a:extLst>
              </a:tr>
              <a:tr h="578644">
                <a:tc>
                  <a:txBody>
                    <a:bodyPr/>
                    <a:lstStyle/>
                    <a:p>
                      <a:endParaRPr lang="en-IN"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1590193321"/>
                  </a:ext>
                </a:extLst>
              </a:tr>
              <a:tr h="505089">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2956474929"/>
                  </a:ext>
                </a:extLst>
              </a:tr>
              <a:tr h="468312">
                <a:tc>
                  <a:txBody>
                    <a:bodyPr/>
                    <a:lstStyle/>
                    <a:p>
                      <a:endParaRPr lang="en-IN"/>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239226021"/>
                  </a:ext>
                </a:extLst>
              </a:tr>
              <a:tr h="793221">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6703951"/>
                  </a:ext>
                </a:extLst>
              </a:tr>
              <a:tr h="330200">
                <a:tc>
                  <a:txBody>
                    <a:bodyPr/>
                    <a:lstStyle/>
                    <a:p>
                      <a:endParaRPr lang="en-IN"/>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377579713"/>
                  </a:ext>
                </a:extLst>
              </a:tr>
              <a:tr h="287867">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94589343"/>
                  </a:ext>
                </a:extLst>
              </a:tr>
              <a:tr h="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2845711960"/>
                  </a:ext>
                </a:extLst>
              </a:tr>
            </a:tbl>
          </a:graphicData>
        </a:graphic>
      </p:graphicFrame>
    </p:spTree>
    <p:extLst>
      <p:ext uri="{BB962C8B-B14F-4D97-AF65-F5344CB8AC3E}">
        <p14:creationId xmlns:p14="http://schemas.microsoft.com/office/powerpoint/2010/main" val="2147792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latin typeface="Times New Roman"/>
                <a:ea typeface="Times New Roman"/>
                <a:cs typeface="Times New Roman"/>
                <a:sym typeface="Times New Roman"/>
              </a:rPr>
              <a:t>SCREENSHOTS</a:t>
            </a:r>
            <a:endParaRPr b="1" dirty="0">
              <a:latin typeface="Times New Roman"/>
              <a:ea typeface="Times New Roman"/>
              <a:cs typeface="Times New Roman"/>
              <a:sym typeface="Times New Roman"/>
            </a:endParaRPr>
          </a:p>
        </p:txBody>
      </p:sp>
      <p:sp>
        <p:nvSpPr>
          <p:cNvPr id="236" name="Google Shape;23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28</a:t>
            </a:fld>
            <a:endParaRPr/>
          </a:p>
        </p:txBody>
      </p:sp>
      <p:pic>
        <p:nvPicPr>
          <p:cNvPr id="2" name="Picture 1">
            <a:extLst>
              <a:ext uri="{FF2B5EF4-FFF2-40B4-BE49-F238E27FC236}">
                <a16:creationId xmlns:a16="http://schemas.microsoft.com/office/drawing/2014/main" id="{EC92D739-4A38-D826-8B49-B55FA9E183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4678" y="1528127"/>
            <a:ext cx="8566258" cy="439854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dirty="0">
                <a:latin typeface="Times New Roman"/>
                <a:ea typeface="Times New Roman"/>
                <a:cs typeface="Times New Roman"/>
                <a:sym typeface="Times New Roman"/>
              </a:rPr>
              <a:t>SCREENSHOTS</a:t>
            </a:r>
            <a:endParaRPr b="1" dirty="0">
              <a:latin typeface="Times New Roman"/>
              <a:ea typeface="Times New Roman"/>
              <a:cs typeface="Times New Roman"/>
              <a:sym typeface="Times New Roman"/>
            </a:endParaRPr>
          </a:p>
        </p:txBody>
      </p:sp>
      <p:sp>
        <p:nvSpPr>
          <p:cNvPr id="242" name="Google Shape;24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29</a:t>
            </a:fld>
            <a:endParaRPr/>
          </a:p>
        </p:txBody>
      </p:sp>
      <p:pic>
        <p:nvPicPr>
          <p:cNvPr id="2" name="Picture 1">
            <a:extLst>
              <a:ext uri="{FF2B5EF4-FFF2-40B4-BE49-F238E27FC236}">
                <a16:creationId xmlns:a16="http://schemas.microsoft.com/office/drawing/2014/main" id="{0BA4CC16-DF99-88A5-F438-1F24D8B55E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21050"/>
            <a:ext cx="8759736" cy="45850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860C41-9606-CC93-EAD0-264A35FB18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30</a:t>
            </a:fld>
            <a:endParaRPr lang="en-IN"/>
          </a:p>
        </p:txBody>
      </p:sp>
      <p:sp>
        <p:nvSpPr>
          <p:cNvPr id="4" name="TextBox 3">
            <a:extLst>
              <a:ext uri="{FF2B5EF4-FFF2-40B4-BE49-F238E27FC236}">
                <a16:creationId xmlns:a16="http://schemas.microsoft.com/office/drawing/2014/main" id="{E6922ABC-D802-68D7-0CAE-C76FAC0EE732}"/>
              </a:ext>
            </a:extLst>
          </p:cNvPr>
          <p:cNvSpPr txBox="1"/>
          <p:nvPr/>
        </p:nvSpPr>
        <p:spPr>
          <a:xfrm>
            <a:off x="347133" y="516468"/>
            <a:ext cx="8593667" cy="769441"/>
          </a:xfrm>
          <a:prstGeom prst="rect">
            <a:avLst/>
          </a:prstGeom>
          <a:noFill/>
        </p:spPr>
        <p:txBody>
          <a:bodyPr wrap="square">
            <a:spAutoFit/>
          </a:bodyPr>
          <a:lstStyle/>
          <a:p>
            <a:r>
              <a:rPr lang="en-IN" sz="4400" b="1" dirty="0">
                <a:latin typeface="Times New Roman"/>
                <a:ea typeface="Times New Roman"/>
                <a:cs typeface="Times New Roman"/>
                <a:sym typeface="Times New Roman"/>
              </a:rPr>
              <a:t>SCREENSHOTS</a:t>
            </a:r>
            <a:endParaRPr lang="en-IN" sz="4400" dirty="0"/>
          </a:p>
        </p:txBody>
      </p:sp>
      <p:pic>
        <p:nvPicPr>
          <p:cNvPr id="5" name="Picture 4">
            <a:extLst>
              <a:ext uri="{FF2B5EF4-FFF2-40B4-BE49-F238E27FC236}">
                <a16:creationId xmlns:a16="http://schemas.microsoft.com/office/drawing/2014/main" id="{71BDA124-968F-338F-8E21-C5278BC2ED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2713" y="1549187"/>
            <a:ext cx="8812953" cy="4477437"/>
          </a:xfrm>
          <a:prstGeom prst="rect">
            <a:avLst/>
          </a:prstGeom>
          <a:noFill/>
          <a:ln>
            <a:noFill/>
          </a:ln>
        </p:spPr>
      </p:pic>
    </p:spTree>
    <p:extLst>
      <p:ext uri="{BB962C8B-B14F-4D97-AF65-F5344CB8AC3E}">
        <p14:creationId xmlns:p14="http://schemas.microsoft.com/office/powerpoint/2010/main" val="3284446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22E951-C62A-EB07-1873-F57C384BA6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31</a:t>
            </a:fld>
            <a:endParaRPr lang="en-IN"/>
          </a:p>
        </p:txBody>
      </p:sp>
      <p:sp>
        <p:nvSpPr>
          <p:cNvPr id="5" name="TextBox 4">
            <a:extLst>
              <a:ext uri="{FF2B5EF4-FFF2-40B4-BE49-F238E27FC236}">
                <a16:creationId xmlns:a16="http://schemas.microsoft.com/office/drawing/2014/main" id="{EDB7E557-5892-065A-B10B-E4AC994DFF30}"/>
              </a:ext>
            </a:extLst>
          </p:cNvPr>
          <p:cNvSpPr txBox="1"/>
          <p:nvPr/>
        </p:nvSpPr>
        <p:spPr>
          <a:xfrm>
            <a:off x="431799" y="331160"/>
            <a:ext cx="6096000" cy="769441"/>
          </a:xfrm>
          <a:prstGeom prst="rect">
            <a:avLst/>
          </a:prstGeom>
          <a:noFill/>
        </p:spPr>
        <p:txBody>
          <a:bodyPr wrap="square">
            <a:spAutoFit/>
          </a:bodyPr>
          <a:lstStyle/>
          <a:p>
            <a:r>
              <a:rPr lang="en-IN" sz="4400" b="1" dirty="0">
                <a:latin typeface="Times New Roman"/>
                <a:ea typeface="Times New Roman"/>
                <a:cs typeface="Times New Roman"/>
                <a:sym typeface="Times New Roman"/>
              </a:rPr>
              <a:t>SCREENSHOTS</a:t>
            </a:r>
            <a:endParaRPr lang="en-IN" sz="4400" dirty="0"/>
          </a:p>
        </p:txBody>
      </p:sp>
      <p:pic>
        <p:nvPicPr>
          <p:cNvPr id="6" name="Picture 5">
            <a:extLst>
              <a:ext uri="{FF2B5EF4-FFF2-40B4-BE49-F238E27FC236}">
                <a16:creationId xmlns:a16="http://schemas.microsoft.com/office/drawing/2014/main" id="{2C8450B8-609B-4E70-9555-73B9DF1587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1799" y="1347575"/>
            <a:ext cx="9364135" cy="4792727"/>
          </a:xfrm>
          <a:prstGeom prst="rect">
            <a:avLst/>
          </a:prstGeom>
          <a:noFill/>
          <a:ln>
            <a:noFill/>
          </a:ln>
        </p:spPr>
      </p:pic>
    </p:spTree>
    <p:extLst>
      <p:ext uri="{BB962C8B-B14F-4D97-AF65-F5344CB8AC3E}">
        <p14:creationId xmlns:p14="http://schemas.microsoft.com/office/powerpoint/2010/main" val="1203266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4"/>
          <p:cNvSpPr txBox="1">
            <a:spLocks noGrp="1"/>
          </p:cNvSpPr>
          <p:nvPr>
            <p:ph type="title"/>
          </p:nvPr>
        </p:nvSpPr>
        <p:spPr>
          <a:xfrm>
            <a:off x="625642" y="339725"/>
            <a:ext cx="10144200" cy="1017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sz="4400" b="1" dirty="0">
                <a:latin typeface="Times New Roman"/>
                <a:ea typeface="Times New Roman"/>
                <a:cs typeface="Times New Roman"/>
                <a:sym typeface="Times New Roman"/>
              </a:rPr>
              <a:t>CONCLUSION</a:t>
            </a:r>
            <a:endParaRPr dirty="0"/>
          </a:p>
        </p:txBody>
      </p:sp>
      <p:sp>
        <p:nvSpPr>
          <p:cNvPr id="248" name="Google Shape;248;p34"/>
          <p:cNvSpPr txBox="1">
            <a:spLocks noGrp="1"/>
          </p:cNvSpPr>
          <p:nvPr>
            <p:ph type="body" idx="1"/>
          </p:nvPr>
        </p:nvSpPr>
        <p:spPr>
          <a:xfrm>
            <a:off x="625650" y="1591550"/>
            <a:ext cx="10721700" cy="4498200"/>
          </a:xfrm>
          <a:prstGeom prst="rect">
            <a:avLst/>
          </a:prstGeom>
          <a:noFill/>
          <a:ln>
            <a:noFill/>
          </a:ln>
        </p:spPr>
        <p:txBody>
          <a:bodyPr spcFirstLastPara="1" wrap="square" lIns="91425" tIns="45700" rIns="91425" bIns="45700" anchor="t" anchorCtr="0">
            <a:normAutofit fontScale="92500" lnSpcReduction="20000"/>
          </a:bodyPr>
          <a:lstStyle/>
          <a:p>
            <a:pPr marL="342900" lvl="0" indent="-313879" algn="just" rtl="0">
              <a:lnSpc>
                <a:spcPct val="150000"/>
              </a:lnSpc>
              <a:spcBef>
                <a:spcPts val="1000"/>
              </a:spcBef>
              <a:spcAft>
                <a:spcPts val="0"/>
              </a:spcAft>
              <a:buClr>
                <a:schemeClr val="dk1"/>
              </a:buClr>
              <a:buSzPct val="100000"/>
              <a:buFont typeface="Arial"/>
              <a:buChar char="•"/>
            </a:pPr>
            <a:r>
              <a:rPr lang="en-IN" sz="2100" dirty="0">
                <a:solidFill>
                  <a:schemeClr val="dk1"/>
                </a:solidFill>
                <a:latin typeface="Times New Roman"/>
                <a:ea typeface="Times New Roman"/>
                <a:cs typeface="Times New Roman"/>
                <a:sym typeface="Times New Roman"/>
              </a:rPr>
              <a:t>The project successfully implements a real-time crowd and violence detection system using the YOLOv8 algorithm, enabling accurate monitoring of public areas for security threats</a:t>
            </a:r>
            <a:endParaRPr sz="2100" dirty="0">
              <a:solidFill>
                <a:schemeClr val="dk1"/>
              </a:solidFill>
              <a:latin typeface="Times New Roman"/>
              <a:ea typeface="Times New Roman"/>
              <a:cs typeface="Times New Roman"/>
              <a:sym typeface="Times New Roman"/>
            </a:endParaRPr>
          </a:p>
          <a:p>
            <a:pPr marL="342900" lvl="0" indent="-313879" algn="just" rtl="0">
              <a:lnSpc>
                <a:spcPct val="150000"/>
              </a:lnSpc>
              <a:spcBef>
                <a:spcPts val="1000"/>
              </a:spcBef>
              <a:spcAft>
                <a:spcPts val="0"/>
              </a:spcAft>
              <a:buClr>
                <a:schemeClr val="dk1"/>
              </a:buClr>
              <a:buSzPct val="100000"/>
              <a:buFont typeface="Arial"/>
              <a:buChar char="•"/>
            </a:pPr>
            <a:r>
              <a:rPr lang="en-IN" sz="2100" dirty="0">
                <a:solidFill>
                  <a:schemeClr val="dk1"/>
                </a:solidFill>
                <a:latin typeface="Times New Roman"/>
                <a:ea typeface="Times New Roman"/>
                <a:cs typeface="Times New Roman"/>
                <a:sym typeface="Times New Roman"/>
              </a:rPr>
              <a:t>By automating data collection, preprocessing, and model training, the system ensures efficiency and reduces human errors in surveillance, making it a valuable tool for enhancing public safety.</a:t>
            </a:r>
            <a:endParaRPr sz="2100" dirty="0">
              <a:solidFill>
                <a:schemeClr val="dk1"/>
              </a:solidFill>
              <a:latin typeface="Times New Roman"/>
              <a:ea typeface="Times New Roman"/>
              <a:cs typeface="Times New Roman"/>
              <a:sym typeface="Times New Roman"/>
            </a:endParaRPr>
          </a:p>
          <a:p>
            <a:pPr marL="342900" lvl="0" indent="-313879" algn="just" rtl="0">
              <a:lnSpc>
                <a:spcPct val="150000"/>
              </a:lnSpc>
              <a:spcBef>
                <a:spcPts val="1000"/>
              </a:spcBef>
              <a:spcAft>
                <a:spcPts val="0"/>
              </a:spcAft>
              <a:buClr>
                <a:schemeClr val="dk1"/>
              </a:buClr>
              <a:buSzPct val="100000"/>
              <a:buFont typeface="Arial"/>
              <a:buChar char="•"/>
            </a:pPr>
            <a:r>
              <a:rPr lang="en-IN" sz="2100" dirty="0">
                <a:solidFill>
                  <a:schemeClr val="dk1"/>
                </a:solidFill>
                <a:latin typeface="Times New Roman"/>
                <a:ea typeface="Times New Roman"/>
                <a:cs typeface="Times New Roman"/>
                <a:sym typeface="Times New Roman"/>
              </a:rPr>
              <a:t>The integration of a </a:t>
            </a:r>
            <a:r>
              <a:rPr lang="en-IN" sz="2100" dirty="0" err="1">
                <a:solidFill>
                  <a:schemeClr val="dk1"/>
                </a:solidFill>
                <a:latin typeface="Times New Roman"/>
                <a:ea typeface="Times New Roman"/>
                <a:cs typeface="Times New Roman"/>
                <a:sym typeface="Times New Roman"/>
              </a:rPr>
              <a:t>Streamlit</a:t>
            </a:r>
            <a:r>
              <a:rPr lang="en-IN" sz="2100" dirty="0">
                <a:solidFill>
                  <a:schemeClr val="dk1"/>
                </a:solidFill>
                <a:latin typeface="Times New Roman"/>
                <a:ea typeface="Times New Roman"/>
                <a:cs typeface="Times New Roman"/>
                <a:sym typeface="Times New Roman"/>
              </a:rPr>
              <a:t> web app provides a user-friendly interface for easy interaction with the system, allowing security personnel to quickly respond to potential threats</a:t>
            </a:r>
            <a:endParaRPr sz="2100" dirty="0">
              <a:solidFill>
                <a:schemeClr val="dk1"/>
              </a:solidFill>
              <a:latin typeface="Times New Roman"/>
              <a:ea typeface="Times New Roman"/>
              <a:cs typeface="Times New Roman"/>
              <a:sym typeface="Times New Roman"/>
            </a:endParaRPr>
          </a:p>
          <a:p>
            <a:pPr marL="342900" lvl="0" indent="-313879" algn="just" rtl="0">
              <a:lnSpc>
                <a:spcPct val="150000"/>
              </a:lnSpc>
              <a:spcBef>
                <a:spcPts val="1000"/>
              </a:spcBef>
              <a:spcAft>
                <a:spcPts val="0"/>
              </a:spcAft>
              <a:buClr>
                <a:schemeClr val="dk1"/>
              </a:buClr>
              <a:buSzPct val="100000"/>
              <a:buFont typeface="Arial"/>
              <a:buChar char="•"/>
            </a:pPr>
            <a:r>
              <a:rPr lang="en-IN" sz="2100" dirty="0">
                <a:solidFill>
                  <a:schemeClr val="dk1"/>
                </a:solidFill>
                <a:latin typeface="Times New Roman"/>
                <a:ea typeface="Times New Roman"/>
                <a:cs typeface="Times New Roman"/>
                <a:sym typeface="Times New Roman"/>
              </a:rPr>
              <a:t>Real-time alerts and notifications, including email and sound alerts, help improve response times, making the system proactive in preventing incidents rather than simply reacting to them.</a:t>
            </a:r>
            <a:endParaRPr sz="2100" dirty="0">
              <a:solidFill>
                <a:schemeClr val="dk1"/>
              </a:solidFill>
              <a:latin typeface="Times New Roman"/>
              <a:ea typeface="Times New Roman"/>
              <a:cs typeface="Times New Roman"/>
              <a:sym typeface="Times New Roman"/>
            </a:endParaRPr>
          </a:p>
          <a:p>
            <a:pPr marL="342900" lvl="0" indent="-313879" algn="just" rtl="0">
              <a:lnSpc>
                <a:spcPct val="150000"/>
              </a:lnSpc>
              <a:spcBef>
                <a:spcPts val="1000"/>
              </a:spcBef>
              <a:spcAft>
                <a:spcPts val="0"/>
              </a:spcAft>
              <a:buClr>
                <a:schemeClr val="dk1"/>
              </a:buClr>
              <a:buSzPct val="100000"/>
              <a:buFont typeface="Arial"/>
              <a:buChar char="•"/>
            </a:pPr>
            <a:r>
              <a:rPr lang="en-IN" sz="2100" dirty="0">
                <a:solidFill>
                  <a:schemeClr val="dk1"/>
                </a:solidFill>
                <a:latin typeface="Times New Roman"/>
                <a:ea typeface="Times New Roman"/>
                <a:cs typeface="Times New Roman"/>
                <a:sym typeface="Times New Roman"/>
              </a:rPr>
              <a:t>Continuous model updates and feedback incorporation ensure that the system will keep evolving, improving its detection capabilities over time and adapting to new types of threats.</a:t>
            </a:r>
            <a:endParaRPr sz="2100" dirty="0">
              <a:solidFill>
                <a:schemeClr val="dk1"/>
              </a:solidFill>
              <a:latin typeface="Times New Roman"/>
              <a:ea typeface="Times New Roman"/>
              <a:cs typeface="Times New Roman"/>
              <a:sym typeface="Times New Roman"/>
            </a:endParaRPr>
          </a:p>
        </p:txBody>
      </p:sp>
      <p:sp>
        <p:nvSpPr>
          <p:cNvPr id="249" name="Google Shape;24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IN" b="1">
                <a:latin typeface="Times New Roman"/>
                <a:ea typeface="Times New Roman"/>
                <a:cs typeface="Times New Roman"/>
                <a:sym typeface="Times New Roman"/>
              </a:rPr>
              <a:t>REFERENCES</a:t>
            </a:r>
            <a:endParaRPr/>
          </a:p>
        </p:txBody>
      </p:sp>
      <p:sp>
        <p:nvSpPr>
          <p:cNvPr id="255" name="Google Shape;255;p35"/>
          <p:cNvSpPr txBox="1">
            <a:spLocks noGrp="1"/>
          </p:cNvSpPr>
          <p:nvPr>
            <p:ph type="body" idx="1"/>
          </p:nvPr>
        </p:nvSpPr>
        <p:spPr>
          <a:xfrm>
            <a:off x="838200" y="1760599"/>
            <a:ext cx="10515600" cy="44163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More, P., Patil, S., &amp; Pattanshetti, T. (2024). Real time Violence and Weapon detection and Alert System.</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Sudharson, D., Srinithi, J., Akshara, S., Abhirami, K., Sriharshitha, P., &amp; Priyanka, K. (2023). Proactive Headcount and Suspicious Activity Detection using YOLOv8. Procedia Computer Science, 230, 61-69.</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Jyothsna, V., Alle, C., Kurnutala, R., Ganesh, K. N., KushalKarthik, K. R., &amp; Pydala, B. (2024, April). YOLOv8-Based Person Detection, Distance Monitoring, Speech Alerts, and Weapon Identification with Email Notifications. In 2024 International Conference on Expert Clouds and Applications (ICOECA) (pp. 288-296). IEEE.</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Singh, D. K., Paroothi, S., Rusia, M. K., &amp; Ansari, M. A. (2020). Human crowd detection for city wide surveillance. Procedia Computer Science, 171, 350-359.</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Nasir, R., Jalil, Z., Nasir, M., Noor, U., Ashraf, M., &amp; Saleem, S. (2024). An Enhanced Framework for Real-Time Dense Crowd Abnormal Behavior Detection Using YOLOv8. Authorea Preprints.</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Inbavalli, A., Jarshini, T., &amp; Muralikrishnaa, M. (2024, March). Efficient Aggressive Behaviour Detection And Alert System Employing Deep Learning Techniques. In 2024 International Conference on Automation and Computation (AUTOCOM) (pp. 404-410). IEEE.</a:t>
            </a:r>
            <a:endParaRPr sz="1800">
              <a:latin typeface="Times New Roman"/>
              <a:ea typeface="Times New Roman"/>
              <a:cs typeface="Times New Roman"/>
              <a:sym typeface="Times New Roman"/>
            </a:endParaRPr>
          </a:p>
          <a:p>
            <a:pPr marL="342900" lvl="0" indent="-342900" algn="l" rtl="0">
              <a:lnSpc>
                <a:spcPct val="90000"/>
              </a:lnSpc>
              <a:spcBef>
                <a:spcPts val="1000"/>
              </a:spcBef>
              <a:spcAft>
                <a:spcPts val="0"/>
              </a:spcAft>
              <a:buClr>
                <a:schemeClr val="dk1"/>
              </a:buClr>
              <a:buSzPts val="1800"/>
              <a:buFont typeface="Calibri"/>
              <a:buAutoNum type="alphaUcPeriod"/>
            </a:pPr>
            <a:r>
              <a:rPr lang="en-IN" sz="1800">
                <a:latin typeface="Times New Roman"/>
                <a:ea typeface="Times New Roman"/>
                <a:cs typeface="Times New Roman"/>
                <a:sym typeface="Times New Roman"/>
              </a:rPr>
              <a:t>Xu, W., Zhu, D., Deng, R., Yung, K., &amp; Ip, A. W. (2024). Violence-YOLO: Enhanced GELAN Algorithm for Violence Detection. Applied Sciences, 14(15), 6712.</a:t>
            </a:r>
            <a:endParaRPr sz="1800">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sp>
        <p:nvSpPr>
          <p:cNvPr id="256" name="Google Shape;25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2"/>
          <p:cNvSpPr txBox="1">
            <a:spLocks noGrp="1"/>
          </p:cNvSpPr>
          <p:nvPr>
            <p:ph type="title"/>
          </p:nvPr>
        </p:nvSpPr>
        <p:spPr>
          <a:xfrm>
            <a:off x="838200" y="2530809"/>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8000"/>
              <a:buFont typeface="Times New Roman"/>
              <a:buNone/>
            </a:pPr>
            <a:r>
              <a:rPr lang="en-IN" sz="8000" b="1">
                <a:solidFill>
                  <a:srgbClr val="FF0000"/>
                </a:solidFill>
                <a:latin typeface="Times New Roman"/>
                <a:ea typeface="Times New Roman"/>
                <a:cs typeface="Times New Roman"/>
                <a:sym typeface="Times New Roman"/>
              </a:rPr>
              <a:t>THANK YOU</a:t>
            </a:r>
            <a:endParaRPr/>
          </a:p>
        </p:txBody>
      </p:sp>
      <p:sp>
        <p:nvSpPr>
          <p:cNvPr id="262" name="Google Shape;262;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34</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682</TotalTime>
  <Words>2787</Words>
  <Application>Microsoft Office PowerPoint</Application>
  <PresentationFormat>Widescreen</PresentationFormat>
  <Paragraphs>296</Paragraphs>
  <Slides>34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DeepSeek-CJK-patch</vt:lpstr>
      <vt:lpstr>Times New Roman</vt:lpstr>
      <vt:lpstr>Office Theme</vt:lpstr>
      <vt:lpstr>PowerPoint Presentation</vt:lpstr>
      <vt:lpstr>ABSTRACT</vt:lpstr>
      <vt:lpstr>INTRODUCTION</vt:lpstr>
      <vt:lpstr>PowerPoint Presentation</vt:lpstr>
      <vt:lpstr>LITERATURE SURVEY</vt:lpstr>
      <vt:lpstr>LITERATURE SURVEY</vt:lpstr>
      <vt:lpstr>LITERATURE SURVEY</vt:lpstr>
      <vt:lpstr>LITERATURE SURVEY</vt:lpstr>
      <vt:lpstr>LITERATURE SURVEY</vt:lpstr>
      <vt:lpstr>LITERATURE SURVEY</vt:lpstr>
      <vt:lpstr>LITERATURE SURVEY</vt:lpstr>
      <vt:lpstr>PowerPoint Presentation</vt:lpstr>
      <vt:lpstr>PROPOSED SYSTEM</vt:lpstr>
      <vt:lpstr>PowerPoint Presentation</vt:lpstr>
      <vt:lpstr>EXISTING SYSTEM</vt:lpstr>
      <vt:lpstr>ARCHITECTURE DIAGRAM</vt:lpstr>
      <vt:lpstr>Data Collection and Preprocessing Process (EDA)</vt:lpstr>
      <vt:lpstr> Model Loading</vt:lpstr>
      <vt:lpstr>Backend and Streamlit Web App</vt:lpstr>
      <vt:lpstr>DFD-0</vt:lpstr>
      <vt:lpstr>DFD-1 (Data Collection and Preprocessing Process (EDA))</vt:lpstr>
      <vt:lpstr>DFD-2 (Model Loading)</vt:lpstr>
      <vt:lpstr>DFD-3 (Backend and Streamlit Web App)</vt:lpstr>
      <vt:lpstr>PowerPoint Presentation</vt:lpstr>
      <vt:lpstr>PowerPoint Presentation</vt:lpstr>
      <vt:lpstr>PowerPoint Presentation</vt:lpstr>
      <vt:lpstr>PowerPoint Presentation</vt:lpstr>
      <vt:lpstr>SCREENSHOTS</vt:lpstr>
      <vt:lpstr>SCREENSHOTS</vt:lpstr>
      <vt:lpstr>PowerPoint Presentation</vt:lpstr>
      <vt:lpstr>PowerPoint Presentation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Nehru M.G (Trucks - PD)</dc:creator>
  <cp:lastModifiedBy>lathikesh1234@outlook.com</cp:lastModifiedBy>
  <cp:revision>9</cp:revision>
  <dcterms:created xsi:type="dcterms:W3CDTF">2019-12-17T16:19:48Z</dcterms:created>
  <dcterms:modified xsi:type="dcterms:W3CDTF">2025-04-02T19:22:58Z</dcterms:modified>
</cp:coreProperties>
</file>